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Helvetica World" panose="020B0604020202020204" charset="-128"/>
      <p:regular r:id="rId11"/>
    </p:embeddedFont>
    <p:embeddedFont>
      <p:font typeface="ADLaM Display" panose="02010000000000000000" pitchFamily="2" charset="0"/>
      <p:regular r:id="rId12"/>
    </p:embeddedFont>
    <p:embeddedFont>
      <p:font typeface="Hinnual Bold" panose="020B0604020202020204" charset="-34"/>
      <p:regular r:id="rId13"/>
    </p:embeddedFont>
    <p:embeddedFont>
      <p:font typeface="Inter" panose="020B0604020202020204" charset="0"/>
      <p:regular r:id="rId14"/>
    </p:embeddedFont>
    <p:embeddedFont>
      <p:font typeface="Inter Bold" panose="020B0604020202020204" charset="0"/>
      <p:regular r:id="rId15"/>
    </p:embeddedFont>
    <p:embeddedFont>
      <p:font typeface="Inter Bold Italics" panose="020B0604020202020204" charset="0"/>
      <p:regular r:id="rId16"/>
    </p:embeddedFont>
    <p:embeddedFont>
      <p:font typeface="Inter Italics" panose="020B0604020202020204" charset="0"/>
      <p:regular r:id="rId17"/>
    </p:embeddedFont>
    <p:embeddedFont>
      <p:font typeface="Nourd" panose="020B0604020202020204" charset="0"/>
      <p:regular r:id="rId18"/>
    </p:embeddedFont>
    <p:embeddedFont>
      <p:font typeface="Nourd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3" d="100"/>
          <a:sy n="43" d="100"/>
        </p:scale>
        <p:origin x="1164" y="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467BB"/>
        </a:solidFill>
        <a:effectLst/>
      </p:bgPr>
    </p:bg>
    <p:spTree>
      <p:nvGrpSpPr>
        <p:cNvPr id="1" name=""/>
        <p:cNvGrpSpPr/>
        <p:nvPr/>
      </p:nvGrpSpPr>
      <p:grpSpPr>
        <a:xfrm>
          <a:off x="0" y="0"/>
          <a:ext cx="0" cy="0"/>
          <a:chOff x="0" y="0"/>
          <a:chExt cx="0" cy="0"/>
        </a:xfrm>
      </p:grpSpPr>
      <p:grpSp>
        <p:nvGrpSpPr>
          <p:cNvPr id="2" name="Group 2"/>
          <p:cNvGrpSpPr/>
          <p:nvPr/>
        </p:nvGrpSpPr>
        <p:grpSpPr>
          <a:xfrm rot="3643369">
            <a:off x="13878487" y="4231632"/>
            <a:ext cx="3491250" cy="349125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EC9F97">
                    <a:alpha val="100000"/>
                  </a:srgbClr>
                </a:gs>
                <a:gs pos="100000">
                  <a:srgbClr val="844162">
                    <a:alpha val="0"/>
                  </a:srgbClr>
                </a:gs>
              </a:gsLst>
              <a:lin ang="0"/>
            </a:gradFill>
          </p:spPr>
          <p:txBody>
            <a:bodyPr/>
            <a:lstStyle/>
            <a:p>
              <a:endParaRPr lang="ar-QA"/>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942"/>
                </a:lnSpc>
              </a:pPr>
              <a:endParaRPr/>
            </a:p>
          </p:txBody>
        </p:sp>
      </p:grpSp>
      <p:sp>
        <p:nvSpPr>
          <p:cNvPr id="5" name="TextBox 5"/>
          <p:cNvSpPr txBox="1"/>
          <p:nvPr/>
        </p:nvSpPr>
        <p:spPr>
          <a:xfrm>
            <a:off x="7089855" y="2598441"/>
            <a:ext cx="9778276" cy="2646915"/>
          </a:xfrm>
          <a:prstGeom prst="rect">
            <a:avLst/>
          </a:prstGeom>
        </p:spPr>
        <p:txBody>
          <a:bodyPr lIns="0" tIns="0" rIns="0" bIns="0" rtlCol="0" anchor="t">
            <a:spAutoFit/>
          </a:bodyPr>
          <a:lstStyle/>
          <a:p>
            <a:pPr algn="ctr">
              <a:lnSpc>
                <a:spcPts val="11463"/>
              </a:lnSpc>
            </a:pPr>
            <a:r>
              <a:rPr lang="en-US" sz="10614" b="1" dirty="0">
                <a:solidFill>
                  <a:srgbClr val="FFFFFF"/>
                </a:solidFill>
                <a:latin typeface="Hinnual Bold"/>
                <a:ea typeface="Hinnual Bold"/>
                <a:cs typeface="Hinnual Bold"/>
                <a:sym typeface="Hinnual Bold"/>
              </a:rPr>
              <a:t>Privilege</a:t>
            </a:r>
          </a:p>
          <a:p>
            <a:pPr algn="ctr">
              <a:lnSpc>
                <a:spcPts val="3240"/>
              </a:lnSpc>
            </a:pPr>
            <a:r>
              <a:rPr lang="en-US" sz="3000" b="1" dirty="0">
                <a:solidFill>
                  <a:srgbClr val="FFFFFF"/>
                </a:solidFill>
                <a:latin typeface="Hinnual Bold"/>
                <a:ea typeface="Hinnual Bold"/>
                <a:cs typeface="Hinnual Bold"/>
                <a:sym typeface="Hinnual Bold"/>
              </a:rPr>
              <a:t>Eat Well ; Stay Well</a:t>
            </a:r>
          </a:p>
        </p:txBody>
      </p:sp>
      <p:sp>
        <p:nvSpPr>
          <p:cNvPr id="6" name="TextBox 6"/>
          <p:cNvSpPr txBox="1"/>
          <p:nvPr/>
        </p:nvSpPr>
        <p:spPr>
          <a:xfrm>
            <a:off x="12583503" y="596372"/>
            <a:ext cx="5416927" cy="405724"/>
          </a:xfrm>
          <a:prstGeom prst="rect">
            <a:avLst/>
          </a:prstGeom>
        </p:spPr>
        <p:txBody>
          <a:bodyPr lIns="0" tIns="0" rIns="0" bIns="0" rtlCol="0" anchor="t">
            <a:spAutoFit/>
          </a:bodyPr>
          <a:lstStyle/>
          <a:p>
            <a:pPr algn="r">
              <a:lnSpc>
                <a:spcPts val="3362"/>
              </a:lnSpc>
            </a:pPr>
            <a:r>
              <a:rPr lang="en-US" sz="2401" b="1">
                <a:solidFill>
                  <a:srgbClr val="F9C266"/>
                </a:solidFill>
                <a:latin typeface="Inter Bold"/>
                <a:ea typeface="Inter Bold"/>
                <a:cs typeface="Inter Bold"/>
                <a:sym typeface="Inter Bold"/>
              </a:rPr>
              <a:t>supportprivilegefitness@gmail.com</a:t>
            </a:r>
          </a:p>
        </p:txBody>
      </p:sp>
      <p:grpSp>
        <p:nvGrpSpPr>
          <p:cNvPr id="7" name="Group 7"/>
          <p:cNvGrpSpPr/>
          <p:nvPr/>
        </p:nvGrpSpPr>
        <p:grpSpPr>
          <a:xfrm>
            <a:off x="16237200" y="3138041"/>
            <a:ext cx="630931" cy="630931"/>
            <a:chOff x="0" y="0"/>
            <a:chExt cx="673100" cy="673100"/>
          </a:xfrm>
        </p:grpSpPr>
        <p:sp>
          <p:nvSpPr>
            <p:cNvPr id="8" name="Freeform 8"/>
            <p:cNvSpPr/>
            <p:nvPr/>
          </p:nvSpPr>
          <p:spPr>
            <a:xfrm>
              <a:off x="0" y="0"/>
              <a:ext cx="673100" cy="673100"/>
            </a:xfrm>
            <a:custGeom>
              <a:avLst/>
              <a:gdLst/>
              <a:ahLst/>
              <a:cxnLst/>
              <a:rect l="l" t="t" r="r" b="b"/>
              <a:pathLst>
                <a:path w="673100" h="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F8C375"/>
            </a:solidFill>
          </p:spPr>
          <p:txBody>
            <a:bodyPr/>
            <a:lstStyle/>
            <a:p>
              <a:endParaRPr lang="ar-QA"/>
            </a:p>
          </p:txBody>
        </p:sp>
        <p:sp>
          <p:nvSpPr>
            <p:cNvPr id="9" name="TextBox 9"/>
            <p:cNvSpPr txBox="1"/>
            <p:nvPr/>
          </p:nvSpPr>
          <p:spPr>
            <a:xfrm>
              <a:off x="165100" y="127000"/>
              <a:ext cx="342900" cy="381000"/>
            </a:xfrm>
            <a:prstGeom prst="rect">
              <a:avLst/>
            </a:prstGeom>
          </p:spPr>
          <p:txBody>
            <a:bodyPr lIns="50800" tIns="50800" rIns="50800" bIns="50800" rtlCol="0" anchor="ctr"/>
            <a:lstStyle/>
            <a:p>
              <a:pPr algn="ctr">
                <a:lnSpc>
                  <a:spcPts val="2942"/>
                </a:lnSpc>
              </a:pPr>
              <a:endParaRPr/>
            </a:p>
          </p:txBody>
        </p:sp>
      </p:grpSp>
      <p:sp>
        <p:nvSpPr>
          <p:cNvPr id="10" name="Freeform 10"/>
          <p:cNvSpPr/>
          <p:nvPr/>
        </p:nvSpPr>
        <p:spPr>
          <a:xfrm>
            <a:off x="3365043" y="803011"/>
            <a:ext cx="4890256" cy="8058095"/>
          </a:xfrm>
          <a:custGeom>
            <a:avLst/>
            <a:gdLst/>
            <a:ahLst/>
            <a:cxnLst/>
            <a:rect l="l" t="t" r="r" b="b"/>
            <a:pathLst>
              <a:path w="4890256" h="8058095">
                <a:moveTo>
                  <a:pt x="0" y="0"/>
                </a:moveTo>
                <a:lnTo>
                  <a:pt x="4890256" y="0"/>
                </a:lnTo>
                <a:lnTo>
                  <a:pt x="4890256" y="8058095"/>
                </a:lnTo>
                <a:lnTo>
                  <a:pt x="0" y="8058095"/>
                </a:lnTo>
                <a:lnTo>
                  <a:pt x="0" y="0"/>
                </a:lnTo>
                <a:close/>
              </a:path>
            </a:pathLst>
          </a:custGeom>
          <a:blipFill>
            <a:blip r:embed="rId2"/>
            <a:stretch>
              <a:fillRect/>
            </a:stretch>
          </a:blipFill>
        </p:spPr>
        <p:txBody>
          <a:bodyPr/>
          <a:lstStyle/>
          <a:p>
            <a:endParaRPr lang="ar-QA"/>
          </a:p>
        </p:txBody>
      </p:sp>
      <p:sp>
        <p:nvSpPr>
          <p:cNvPr id="11" name="TextBox 11"/>
          <p:cNvSpPr txBox="1"/>
          <p:nvPr/>
        </p:nvSpPr>
        <p:spPr>
          <a:xfrm>
            <a:off x="6756162" y="6533030"/>
            <a:ext cx="10820207" cy="3637984"/>
          </a:xfrm>
          <a:prstGeom prst="rect">
            <a:avLst/>
          </a:prstGeom>
        </p:spPr>
        <p:txBody>
          <a:bodyPr lIns="0" tIns="0" rIns="0" bIns="0" rtlCol="0" anchor="t">
            <a:spAutoFit/>
          </a:bodyPr>
          <a:lstStyle/>
          <a:p>
            <a:pPr algn="ctr">
              <a:lnSpc>
                <a:spcPts val="4060"/>
              </a:lnSpc>
            </a:pPr>
            <a:endParaRPr dirty="0"/>
          </a:p>
          <a:p>
            <a:pPr algn="ctr">
              <a:lnSpc>
                <a:spcPts val="4060"/>
              </a:lnSpc>
            </a:pPr>
            <a:endParaRPr dirty="0"/>
          </a:p>
          <a:p>
            <a:pPr algn="ctr">
              <a:lnSpc>
                <a:spcPts val="4060"/>
              </a:lnSpc>
            </a:pPr>
            <a:r>
              <a:rPr lang="en-US" sz="2900" b="1" u="sng" dirty="0">
                <a:solidFill>
                  <a:srgbClr val="F9C266"/>
                </a:solidFill>
                <a:latin typeface="Inter Bold"/>
                <a:ea typeface="Inter Bold"/>
                <a:cs typeface="Inter Bold"/>
                <a:sym typeface="Inter Bold"/>
              </a:rPr>
              <a:t>Project Team : </a:t>
            </a:r>
          </a:p>
          <a:p>
            <a:pPr algn="ctr">
              <a:lnSpc>
                <a:spcPts val="4060"/>
              </a:lnSpc>
            </a:pPr>
            <a:r>
              <a:rPr lang="en-US" sz="2900" b="1" dirty="0">
                <a:solidFill>
                  <a:srgbClr val="F9C266"/>
                </a:solidFill>
                <a:latin typeface="Inter Bold"/>
                <a:ea typeface="Inter Bold"/>
                <a:cs typeface="Inter Bold"/>
                <a:sym typeface="Inter Bold"/>
              </a:rPr>
              <a:t>Ibrahim Mohamed Haggag ( 26104141 ) </a:t>
            </a:r>
          </a:p>
          <a:p>
            <a:pPr algn="ctr">
              <a:lnSpc>
                <a:spcPts val="4060"/>
              </a:lnSpc>
            </a:pPr>
            <a:r>
              <a:rPr lang="en-US" sz="2900" b="1" dirty="0">
                <a:solidFill>
                  <a:srgbClr val="F9C266"/>
                </a:solidFill>
                <a:latin typeface="Inter Bold"/>
                <a:ea typeface="Inter Bold"/>
                <a:cs typeface="Inter Bold"/>
                <a:sym typeface="Inter Bold"/>
              </a:rPr>
              <a:t>Hossam Mohamed Ismail ( 26104503) </a:t>
            </a:r>
          </a:p>
          <a:p>
            <a:pPr algn="ctr">
              <a:lnSpc>
                <a:spcPts val="4060"/>
              </a:lnSpc>
            </a:pPr>
            <a:r>
              <a:rPr lang="en-US" sz="2900" b="1" dirty="0">
                <a:solidFill>
                  <a:srgbClr val="F9C266"/>
                </a:solidFill>
                <a:latin typeface="Inter Bold"/>
                <a:ea typeface="Inter Bold"/>
                <a:cs typeface="Inter Bold"/>
                <a:sym typeface="Inter Bold"/>
              </a:rPr>
              <a:t>Abdalla Hithem Alam ( 26103049 ) </a:t>
            </a:r>
          </a:p>
          <a:p>
            <a:pPr algn="ctr">
              <a:lnSpc>
                <a:spcPts val="4060"/>
              </a:lnSpc>
            </a:pPr>
            <a:r>
              <a:rPr lang="en-US" sz="2900" b="1" dirty="0">
                <a:solidFill>
                  <a:srgbClr val="F9C266"/>
                </a:solidFill>
                <a:latin typeface="Inter Bold"/>
                <a:ea typeface="Inter Bold"/>
                <a:cs typeface="Inter Bold"/>
                <a:sym typeface="Inter Bold"/>
              </a:rPr>
              <a:t>Ammar Osama Mohammad ( 26103884 )</a:t>
            </a:r>
          </a:p>
        </p:txBody>
      </p:sp>
      <p:grpSp>
        <p:nvGrpSpPr>
          <p:cNvPr id="12" name="Group 12"/>
          <p:cNvGrpSpPr/>
          <p:nvPr/>
        </p:nvGrpSpPr>
        <p:grpSpPr>
          <a:xfrm rot="7745305">
            <a:off x="-3776125" y="4636224"/>
            <a:ext cx="7141681" cy="7141681"/>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EC9F97">
                    <a:alpha val="100000"/>
                  </a:srgbClr>
                </a:gs>
                <a:gs pos="100000">
                  <a:srgbClr val="844162">
                    <a:alpha val="0"/>
                  </a:srgbClr>
                </a:gs>
              </a:gsLst>
              <a:lin ang="0"/>
            </a:gradFill>
          </p:spPr>
          <p:txBody>
            <a:bodyPr/>
            <a:lstStyle/>
            <a:p>
              <a:endParaRPr lang="ar-QA"/>
            </a:p>
          </p:txBody>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942"/>
                </a:lnSpc>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467BB"/>
        </a:solidFill>
        <a:effectLst/>
      </p:bgPr>
    </p:bg>
    <p:spTree>
      <p:nvGrpSpPr>
        <p:cNvPr id="1" name=""/>
        <p:cNvGrpSpPr/>
        <p:nvPr/>
      </p:nvGrpSpPr>
      <p:grpSpPr>
        <a:xfrm>
          <a:off x="0" y="0"/>
          <a:ext cx="0" cy="0"/>
          <a:chOff x="0" y="0"/>
          <a:chExt cx="0" cy="0"/>
        </a:xfrm>
      </p:grpSpPr>
      <p:grpSp>
        <p:nvGrpSpPr>
          <p:cNvPr id="2" name="Group 2"/>
          <p:cNvGrpSpPr/>
          <p:nvPr/>
        </p:nvGrpSpPr>
        <p:grpSpPr>
          <a:xfrm rot="3643369">
            <a:off x="10652050" y="3592779"/>
            <a:ext cx="9035919" cy="903591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EC9F97">
                    <a:alpha val="100000"/>
                  </a:srgbClr>
                </a:gs>
                <a:gs pos="100000">
                  <a:srgbClr val="844162">
                    <a:alpha val="0"/>
                  </a:srgbClr>
                </a:gs>
              </a:gsLst>
              <a:lin ang="0"/>
            </a:gradFill>
          </p:spPr>
          <p:txBody>
            <a:bodyPr/>
            <a:lstStyle/>
            <a:p>
              <a:endParaRPr lang="ar-QA"/>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942"/>
                </a:lnSpc>
              </a:pPr>
              <a:endParaRPr/>
            </a:p>
          </p:txBody>
        </p:sp>
      </p:grpSp>
      <p:grpSp>
        <p:nvGrpSpPr>
          <p:cNvPr id="5" name="Group 5"/>
          <p:cNvGrpSpPr/>
          <p:nvPr/>
        </p:nvGrpSpPr>
        <p:grpSpPr>
          <a:xfrm>
            <a:off x="1550651" y="-1151044"/>
            <a:ext cx="7930033" cy="3908112"/>
            <a:chOff x="0" y="-332438"/>
            <a:chExt cx="2088568" cy="1056670"/>
          </a:xfrm>
        </p:grpSpPr>
        <p:sp>
          <p:nvSpPr>
            <p:cNvPr id="6" name="Freeform 6"/>
            <p:cNvSpPr/>
            <p:nvPr/>
          </p:nvSpPr>
          <p:spPr>
            <a:xfrm>
              <a:off x="0" y="15814"/>
              <a:ext cx="2088568" cy="447070"/>
            </a:xfrm>
            <a:custGeom>
              <a:avLst/>
              <a:gdLst/>
              <a:ahLst/>
              <a:cxnLst/>
              <a:rect l="l" t="t" r="r" b="b"/>
              <a:pathLst>
                <a:path w="2088568" h="447070">
                  <a:moveTo>
                    <a:pt x="28312" y="0"/>
                  </a:moveTo>
                  <a:lnTo>
                    <a:pt x="2060256" y="0"/>
                  </a:lnTo>
                  <a:cubicBezTo>
                    <a:pt x="2067765" y="0"/>
                    <a:pt x="2074966" y="2983"/>
                    <a:pt x="2080276" y="8292"/>
                  </a:cubicBezTo>
                  <a:cubicBezTo>
                    <a:pt x="2085585" y="13602"/>
                    <a:pt x="2088568" y="20803"/>
                    <a:pt x="2088568" y="28312"/>
                  </a:cubicBezTo>
                  <a:lnTo>
                    <a:pt x="2088568" y="418758"/>
                  </a:lnTo>
                  <a:cubicBezTo>
                    <a:pt x="2088568" y="434394"/>
                    <a:pt x="2075892" y="447070"/>
                    <a:pt x="2060256" y="447070"/>
                  </a:cubicBezTo>
                  <a:lnTo>
                    <a:pt x="28312" y="447070"/>
                  </a:lnTo>
                  <a:cubicBezTo>
                    <a:pt x="12676" y="447070"/>
                    <a:pt x="0" y="434394"/>
                    <a:pt x="0" y="418758"/>
                  </a:cubicBezTo>
                  <a:lnTo>
                    <a:pt x="0" y="28312"/>
                  </a:lnTo>
                  <a:cubicBezTo>
                    <a:pt x="0" y="12676"/>
                    <a:pt x="12676" y="0"/>
                    <a:pt x="28312" y="0"/>
                  </a:cubicBezTo>
                  <a:close/>
                </a:path>
              </a:pathLst>
            </a:custGeom>
            <a:solidFill>
              <a:srgbClr val="F8C375"/>
            </a:solidFill>
          </p:spPr>
          <p:txBody>
            <a:bodyPr/>
            <a:lstStyle/>
            <a:p>
              <a:endParaRPr lang="ar-QA"/>
            </a:p>
          </p:txBody>
        </p:sp>
        <p:sp>
          <p:nvSpPr>
            <p:cNvPr id="7" name="TextBox 7"/>
            <p:cNvSpPr txBox="1"/>
            <p:nvPr/>
          </p:nvSpPr>
          <p:spPr>
            <a:xfrm>
              <a:off x="0" y="-332438"/>
              <a:ext cx="2088568" cy="1056670"/>
            </a:xfrm>
            <a:prstGeom prst="rect">
              <a:avLst/>
            </a:prstGeom>
          </p:spPr>
          <p:txBody>
            <a:bodyPr lIns="50800" tIns="50800" rIns="50800" bIns="50800" rtlCol="0" anchor="ctr"/>
            <a:lstStyle/>
            <a:p>
              <a:pPr algn="ctr">
                <a:lnSpc>
                  <a:spcPts val="8962"/>
                </a:lnSpc>
              </a:pPr>
              <a:r>
                <a:rPr lang="en-US" sz="6401" b="1" dirty="0">
                  <a:solidFill>
                    <a:srgbClr val="4467BB"/>
                  </a:solidFill>
                  <a:latin typeface="Hinnual Bold"/>
                  <a:ea typeface="Hinnual Bold"/>
                  <a:cs typeface="Hinnual Bold"/>
                  <a:sym typeface="Hinnual Bold"/>
                </a:rPr>
                <a:t>Project Research</a:t>
              </a:r>
            </a:p>
          </p:txBody>
        </p:sp>
      </p:grpSp>
      <p:sp>
        <p:nvSpPr>
          <p:cNvPr id="8" name="TextBox 8"/>
          <p:cNvSpPr txBox="1"/>
          <p:nvPr/>
        </p:nvSpPr>
        <p:spPr>
          <a:xfrm>
            <a:off x="12222620" y="-78897"/>
            <a:ext cx="5894780" cy="881908"/>
          </a:xfrm>
          <a:prstGeom prst="rect">
            <a:avLst/>
          </a:prstGeom>
        </p:spPr>
        <p:txBody>
          <a:bodyPr lIns="0" tIns="0" rIns="0" bIns="0" rtlCol="0" anchor="t">
            <a:spAutoFit/>
          </a:bodyPr>
          <a:lstStyle/>
          <a:p>
            <a:pPr algn="r">
              <a:lnSpc>
                <a:spcPts val="3559"/>
              </a:lnSpc>
            </a:pPr>
            <a:r>
              <a:rPr lang="en-US" sz="2542" b="1">
                <a:solidFill>
                  <a:srgbClr val="F9C266"/>
                </a:solidFill>
                <a:latin typeface="Inter Bold"/>
                <a:ea typeface="Inter Bold"/>
                <a:cs typeface="Inter Bold"/>
                <a:sym typeface="Inter Bold"/>
              </a:rPr>
              <a:t>      supportprivilegefitness@gmail.com</a:t>
            </a:r>
          </a:p>
        </p:txBody>
      </p:sp>
      <p:grpSp>
        <p:nvGrpSpPr>
          <p:cNvPr id="9" name="Group 9"/>
          <p:cNvGrpSpPr/>
          <p:nvPr/>
        </p:nvGrpSpPr>
        <p:grpSpPr>
          <a:xfrm>
            <a:off x="617821" y="487546"/>
            <a:ext cx="630931" cy="630931"/>
            <a:chOff x="0" y="0"/>
            <a:chExt cx="673100" cy="673100"/>
          </a:xfrm>
        </p:grpSpPr>
        <p:sp>
          <p:nvSpPr>
            <p:cNvPr id="10" name="Freeform 10"/>
            <p:cNvSpPr/>
            <p:nvPr/>
          </p:nvSpPr>
          <p:spPr>
            <a:xfrm>
              <a:off x="0" y="0"/>
              <a:ext cx="673100" cy="673100"/>
            </a:xfrm>
            <a:custGeom>
              <a:avLst/>
              <a:gdLst/>
              <a:ahLst/>
              <a:cxnLst/>
              <a:rect l="l" t="t" r="r" b="b"/>
              <a:pathLst>
                <a:path w="673100" h="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F8C375"/>
            </a:solidFill>
          </p:spPr>
          <p:txBody>
            <a:bodyPr/>
            <a:lstStyle/>
            <a:p>
              <a:endParaRPr lang="ar-QA"/>
            </a:p>
          </p:txBody>
        </p:sp>
        <p:sp>
          <p:nvSpPr>
            <p:cNvPr id="11" name="TextBox 11"/>
            <p:cNvSpPr txBox="1"/>
            <p:nvPr/>
          </p:nvSpPr>
          <p:spPr>
            <a:xfrm>
              <a:off x="165100" y="127000"/>
              <a:ext cx="342900" cy="381000"/>
            </a:xfrm>
            <a:prstGeom prst="rect">
              <a:avLst/>
            </a:prstGeom>
          </p:spPr>
          <p:txBody>
            <a:bodyPr lIns="50800" tIns="50800" rIns="50800" bIns="50800" rtlCol="0" anchor="ctr"/>
            <a:lstStyle/>
            <a:p>
              <a:pPr algn="ctr">
                <a:lnSpc>
                  <a:spcPts val="2942"/>
                </a:lnSpc>
              </a:pPr>
              <a:endParaRPr/>
            </a:p>
          </p:txBody>
        </p:sp>
      </p:grpSp>
      <p:sp>
        <p:nvSpPr>
          <p:cNvPr id="12" name="TextBox 12"/>
          <p:cNvSpPr txBox="1"/>
          <p:nvPr/>
        </p:nvSpPr>
        <p:spPr>
          <a:xfrm>
            <a:off x="397416" y="2991999"/>
            <a:ext cx="10236503" cy="4843909"/>
          </a:xfrm>
          <a:prstGeom prst="rect">
            <a:avLst/>
          </a:prstGeom>
        </p:spPr>
        <p:txBody>
          <a:bodyPr lIns="0" tIns="0" rIns="0" bIns="0" rtlCol="0" anchor="t">
            <a:spAutoFit/>
          </a:bodyPr>
          <a:lstStyle/>
          <a:p>
            <a:pPr algn="ctr">
              <a:lnSpc>
                <a:spcPts val="5487"/>
              </a:lnSpc>
              <a:spcBef>
                <a:spcPct val="0"/>
              </a:spcBef>
            </a:pPr>
            <a:r>
              <a:rPr lang="en-US" sz="3919" b="1">
                <a:solidFill>
                  <a:srgbClr val="FFFFFF"/>
                </a:solidFill>
                <a:latin typeface="Inter Bold"/>
                <a:ea typeface="Inter Bold"/>
                <a:cs typeface="Inter Bold"/>
                <a:sym typeface="Inter Bold"/>
              </a:rPr>
              <a:t>Efficacy of Fitness AppsResearch published in </a:t>
            </a:r>
            <a:r>
              <a:rPr lang="en-US" sz="3919" b="1">
                <a:solidFill>
                  <a:srgbClr val="F9C266"/>
                </a:solidFill>
                <a:latin typeface="Inter Bold"/>
                <a:ea typeface="Inter Bold"/>
                <a:cs typeface="Inter Bold"/>
                <a:sym typeface="Inter Bold"/>
              </a:rPr>
              <a:t>August 2022 </a:t>
            </a:r>
            <a:r>
              <a:rPr lang="en-US" sz="3919" b="1">
                <a:solidFill>
                  <a:srgbClr val="FFFFFF"/>
                </a:solidFill>
                <a:latin typeface="Inter Bold"/>
                <a:ea typeface="Inter Bold"/>
                <a:cs typeface="Inter Bold"/>
                <a:sym typeface="Inter Bold"/>
              </a:rPr>
              <a:t>highlights that fitness tracking apps significantly improve user accountability and self-monitoring. As a result, active app users are nearly </a:t>
            </a:r>
            <a:r>
              <a:rPr lang="en-US" sz="3919" b="1">
                <a:solidFill>
                  <a:srgbClr val="F9C266"/>
                </a:solidFill>
                <a:latin typeface="Inter Bold"/>
                <a:ea typeface="Inter Bold"/>
                <a:cs typeface="Inter Bold"/>
                <a:sym typeface="Inter Bold"/>
              </a:rPr>
              <a:t>twice </a:t>
            </a:r>
            <a:r>
              <a:rPr lang="en-US" sz="3919" b="1">
                <a:solidFill>
                  <a:srgbClr val="FFFFFF"/>
                </a:solidFill>
                <a:latin typeface="Inter Bold"/>
                <a:ea typeface="Inter Bold"/>
                <a:cs typeface="Inter Bold"/>
                <a:sym typeface="Inter Bold"/>
              </a:rPr>
              <a:t>as likely to meet recommended aerobic activity guidelines.</a:t>
            </a:r>
          </a:p>
        </p:txBody>
      </p:sp>
      <p:sp>
        <p:nvSpPr>
          <p:cNvPr id="13" name="TextBox 13"/>
          <p:cNvSpPr txBox="1"/>
          <p:nvPr/>
        </p:nvSpPr>
        <p:spPr>
          <a:xfrm>
            <a:off x="10854324" y="6825937"/>
            <a:ext cx="7614883" cy="994372"/>
          </a:xfrm>
          <a:prstGeom prst="rect">
            <a:avLst/>
          </a:prstGeom>
        </p:spPr>
        <p:txBody>
          <a:bodyPr lIns="0" tIns="0" rIns="0" bIns="0" rtlCol="0" anchor="t">
            <a:spAutoFit/>
          </a:bodyPr>
          <a:lstStyle/>
          <a:p>
            <a:pPr algn="ctr">
              <a:lnSpc>
                <a:spcPts val="3992"/>
              </a:lnSpc>
              <a:spcBef>
                <a:spcPct val="0"/>
              </a:spcBef>
            </a:pPr>
            <a:r>
              <a:rPr lang="en-US" sz="2851" b="1">
                <a:solidFill>
                  <a:srgbClr val="FFFFFF"/>
                </a:solidFill>
                <a:latin typeface="Inter Bold"/>
                <a:ea typeface="Inter Bold"/>
                <a:cs typeface="Inter Bold"/>
                <a:sym typeface="Inter Bold"/>
              </a:rPr>
              <a:t>(Reference: Tong, H.L., et al., August 18, 2022, PLOS Digital Health) </a:t>
            </a:r>
          </a:p>
        </p:txBody>
      </p:sp>
      <p:sp>
        <p:nvSpPr>
          <p:cNvPr id="15" name="Freeform 10">
            <a:extLst>
              <a:ext uri="{FF2B5EF4-FFF2-40B4-BE49-F238E27FC236}">
                <a16:creationId xmlns:a16="http://schemas.microsoft.com/office/drawing/2014/main" id="{F576DBEA-964E-BF0C-E5F8-3970687317EA}"/>
              </a:ext>
            </a:extLst>
          </p:cNvPr>
          <p:cNvSpPr/>
          <p:nvPr/>
        </p:nvSpPr>
        <p:spPr>
          <a:xfrm>
            <a:off x="10230883" y="606590"/>
            <a:ext cx="2830295" cy="4843909"/>
          </a:xfrm>
          <a:custGeom>
            <a:avLst/>
            <a:gdLst/>
            <a:ahLst/>
            <a:cxnLst/>
            <a:rect l="l" t="t" r="r" b="b"/>
            <a:pathLst>
              <a:path w="4890256" h="8058095">
                <a:moveTo>
                  <a:pt x="0" y="0"/>
                </a:moveTo>
                <a:lnTo>
                  <a:pt x="4890256" y="0"/>
                </a:lnTo>
                <a:lnTo>
                  <a:pt x="4890256" y="8058095"/>
                </a:lnTo>
                <a:lnTo>
                  <a:pt x="0" y="8058095"/>
                </a:lnTo>
                <a:lnTo>
                  <a:pt x="0" y="0"/>
                </a:lnTo>
                <a:close/>
              </a:path>
            </a:pathLst>
          </a:custGeom>
          <a:blipFill>
            <a:blip r:embed="rId2"/>
            <a:stretch>
              <a:fillRect/>
            </a:stretch>
          </a:blipFill>
        </p:spPr>
        <p:txBody>
          <a:bodyPr/>
          <a:lstStyle/>
          <a:p>
            <a:endParaRPr lang="ar-QA"/>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467BB"/>
        </a:solidFill>
        <a:effectLst/>
      </p:bgPr>
    </p:bg>
    <p:spTree>
      <p:nvGrpSpPr>
        <p:cNvPr id="1" name=""/>
        <p:cNvGrpSpPr/>
        <p:nvPr/>
      </p:nvGrpSpPr>
      <p:grpSpPr>
        <a:xfrm>
          <a:off x="0" y="0"/>
          <a:ext cx="0" cy="0"/>
          <a:chOff x="0" y="0"/>
          <a:chExt cx="0" cy="0"/>
        </a:xfrm>
      </p:grpSpPr>
      <p:sp>
        <p:nvSpPr>
          <p:cNvPr id="2" name="TextBox 2"/>
          <p:cNvSpPr txBox="1"/>
          <p:nvPr/>
        </p:nvSpPr>
        <p:spPr>
          <a:xfrm>
            <a:off x="12133597" y="310824"/>
            <a:ext cx="5873847" cy="431054"/>
          </a:xfrm>
          <a:prstGeom prst="rect">
            <a:avLst/>
          </a:prstGeom>
        </p:spPr>
        <p:txBody>
          <a:bodyPr lIns="0" tIns="0" rIns="0" bIns="0" rtlCol="0" anchor="t">
            <a:spAutoFit/>
          </a:bodyPr>
          <a:lstStyle/>
          <a:p>
            <a:pPr algn="r">
              <a:lnSpc>
                <a:spcPts val="3541"/>
              </a:lnSpc>
            </a:pPr>
            <a:r>
              <a:rPr lang="en-US" sz="2529" b="1">
                <a:solidFill>
                  <a:srgbClr val="F9C266"/>
                </a:solidFill>
                <a:latin typeface="Inter Bold"/>
                <a:ea typeface="Inter Bold"/>
                <a:cs typeface="Inter Bold"/>
                <a:sym typeface="Inter Bold"/>
              </a:rPr>
              <a:t>supportprivilegefitness@gmail.com</a:t>
            </a:r>
          </a:p>
        </p:txBody>
      </p:sp>
      <p:sp>
        <p:nvSpPr>
          <p:cNvPr id="3" name="TextBox 3"/>
          <p:cNvSpPr txBox="1"/>
          <p:nvPr/>
        </p:nvSpPr>
        <p:spPr>
          <a:xfrm>
            <a:off x="6370429" y="6040925"/>
            <a:ext cx="1988030" cy="356128"/>
          </a:xfrm>
          <a:prstGeom prst="rect">
            <a:avLst/>
          </a:prstGeom>
        </p:spPr>
        <p:txBody>
          <a:bodyPr lIns="0" tIns="0" rIns="0" bIns="0" rtlCol="0" anchor="t">
            <a:spAutoFit/>
          </a:bodyPr>
          <a:lstStyle/>
          <a:p>
            <a:pPr algn="ctr">
              <a:lnSpc>
                <a:spcPts val="2942"/>
              </a:lnSpc>
            </a:pPr>
            <a:r>
              <a:rPr lang="en-US" sz="2101" b="1">
                <a:solidFill>
                  <a:srgbClr val="4467BB"/>
                </a:solidFill>
                <a:latin typeface="Inter Bold"/>
                <a:ea typeface="Inter Bold"/>
                <a:cs typeface="Inter Bold"/>
                <a:sym typeface="Inter Bold"/>
              </a:rPr>
              <a:t>03.</a:t>
            </a:r>
          </a:p>
        </p:txBody>
      </p:sp>
      <p:grpSp>
        <p:nvGrpSpPr>
          <p:cNvPr id="4" name="Group 4"/>
          <p:cNvGrpSpPr/>
          <p:nvPr/>
        </p:nvGrpSpPr>
        <p:grpSpPr>
          <a:xfrm>
            <a:off x="617821" y="487546"/>
            <a:ext cx="630931" cy="630931"/>
            <a:chOff x="0" y="0"/>
            <a:chExt cx="673100" cy="673100"/>
          </a:xfrm>
        </p:grpSpPr>
        <p:sp>
          <p:nvSpPr>
            <p:cNvPr id="5" name="Freeform 5"/>
            <p:cNvSpPr/>
            <p:nvPr/>
          </p:nvSpPr>
          <p:spPr>
            <a:xfrm>
              <a:off x="0" y="0"/>
              <a:ext cx="673100" cy="673100"/>
            </a:xfrm>
            <a:custGeom>
              <a:avLst/>
              <a:gdLst/>
              <a:ahLst/>
              <a:cxnLst/>
              <a:rect l="l" t="t" r="r" b="b"/>
              <a:pathLst>
                <a:path w="673100" h="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F8C375"/>
            </a:solidFill>
          </p:spPr>
          <p:txBody>
            <a:bodyPr/>
            <a:lstStyle/>
            <a:p>
              <a:endParaRPr lang="ar-QA"/>
            </a:p>
          </p:txBody>
        </p:sp>
        <p:sp>
          <p:nvSpPr>
            <p:cNvPr id="6" name="TextBox 6"/>
            <p:cNvSpPr txBox="1"/>
            <p:nvPr/>
          </p:nvSpPr>
          <p:spPr>
            <a:xfrm>
              <a:off x="165100" y="127000"/>
              <a:ext cx="342900" cy="381000"/>
            </a:xfrm>
            <a:prstGeom prst="rect">
              <a:avLst/>
            </a:prstGeom>
          </p:spPr>
          <p:txBody>
            <a:bodyPr lIns="50800" tIns="50800" rIns="50800" bIns="50800" rtlCol="0" anchor="ctr"/>
            <a:lstStyle/>
            <a:p>
              <a:pPr algn="ctr">
                <a:lnSpc>
                  <a:spcPts val="2942"/>
                </a:lnSpc>
              </a:pPr>
              <a:endParaRPr/>
            </a:p>
          </p:txBody>
        </p:sp>
      </p:grpSp>
      <p:grpSp>
        <p:nvGrpSpPr>
          <p:cNvPr id="7" name="Group 7"/>
          <p:cNvGrpSpPr/>
          <p:nvPr/>
        </p:nvGrpSpPr>
        <p:grpSpPr>
          <a:xfrm>
            <a:off x="1550650" y="112563"/>
            <a:ext cx="7930033" cy="1380896"/>
            <a:chOff x="0" y="0"/>
            <a:chExt cx="2088568" cy="363693"/>
          </a:xfrm>
        </p:grpSpPr>
        <p:sp>
          <p:nvSpPr>
            <p:cNvPr id="8" name="Freeform 8"/>
            <p:cNvSpPr/>
            <p:nvPr/>
          </p:nvSpPr>
          <p:spPr>
            <a:xfrm>
              <a:off x="0" y="0"/>
              <a:ext cx="2088568" cy="363693"/>
            </a:xfrm>
            <a:custGeom>
              <a:avLst/>
              <a:gdLst/>
              <a:ahLst/>
              <a:cxnLst/>
              <a:rect l="l" t="t" r="r" b="b"/>
              <a:pathLst>
                <a:path w="2088568" h="363693">
                  <a:moveTo>
                    <a:pt x="28312" y="0"/>
                  </a:moveTo>
                  <a:lnTo>
                    <a:pt x="2060256" y="0"/>
                  </a:lnTo>
                  <a:cubicBezTo>
                    <a:pt x="2067765" y="0"/>
                    <a:pt x="2074966" y="2983"/>
                    <a:pt x="2080276" y="8292"/>
                  </a:cubicBezTo>
                  <a:cubicBezTo>
                    <a:pt x="2085585" y="13602"/>
                    <a:pt x="2088568" y="20803"/>
                    <a:pt x="2088568" y="28312"/>
                  </a:cubicBezTo>
                  <a:lnTo>
                    <a:pt x="2088568" y="335381"/>
                  </a:lnTo>
                  <a:cubicBezTo>
                    <a:pt x="2088568" y="351017"/>
                    <a:pt x="2075892" y="363693"/>
                    <a:pt x="2060256" y="363693"/>
                  </a:cubicBezTo>
                  <a:lnTo>
                    <a:pt x="28312" y="363693"/>
                  </a:lnTo>
                  <a:cubicBezTo>
                    <a:pt x="12676" y="363693"/>
                    <a:pt x="0" y="351017"/>
                    <a:pt x="0" y="335381"/>
                  </a:cubicBezTo>
                  <a:lnTo>
                    <a:pt x="0" y="28312"/>
                  </a:lnTo>
                  <a:cubicBezTo>
                    <a:pt x="0" y="12676"/>
                    <a:pt x="12676" y="0"/>
                    <a:pt x="28312" y="0"/>
                  </a:cubicBezTo>
                  <a:close/>
                </a:path>
              </a:pathLst>
            </a:custGeom>
            <a:solidFill>
              <a:srgbClr val="F8C375"/>
            </a:solidFill>
          </p:spPr>
          <p:txBody>
            <a:bodyPr/>
            <a:lstStyle/>
            <a:p>
              <a:endParaRPr lang="ar-QA"/>
            </a:p>
          </p:txBody>
        </p:sp>
        <p:sp>
          <p:nvSpPr>
            <p:cNvPr id="9" name="TextBox 9"/>
            <p:cNvSpPr txBox="1"/>
            <p:nvPr/>
          </p:nvSpPr>
          <p:spPr>
            <a:xfrm>
              <a:off x="0" y="-38100"/>
              <a:ext cx="2088568" cy="401793"/>
            </a:xfrm>
            <a:prstGeom prst="rect">
              <a:avLst/>
            </a:prstGeom>
          </p:spPr>
          <p:txBody>
            <a:bodyPr lIns="50800" tIns="50800" rIns="50800" bIns="50800" rtlCol="0" anchor="ctr"/>
            <a:lstStyle/>
            <a:p>
              <a:pPr algn="ctr">
                <a:lnSpc>
                  <a:spcPts val="2942"/>
                </a:lnSpc>
              </a:pPr>
              <a:endParaRPr/>
            </a:p>
          </p:txBody>
        </p:sp>
      </p:grpSp>
      <p:grpSp>
        <p:nvGrpSpPr>
          <p:cNvPr id="10" name="Group 10"/>
          <p:cNvGrpSpPr/>
          <p:nvPr/>
        </p:nvGrpSpPr>
        <p:grpSpPr>
          <a:xfrm rot="8934024">
            <a:off x="-1156887" y="3032293"/>
            <a:ext cx="9061188" cy="9035919"/>
            <a:chOff x="-78473" y="-16175"/>
            <a:chExt cx="815073" cy="812800"/>
          </a:xfrm>
        </p:grpSpPr>
        <p:sp>
          <p:nvSpPr>
            <p:cNvPr id="11" name="Freeform 11"/>
            <p:cNvSpPr/>
            <p:nvPr/>
          </p:nvSpPr>
          <p:spPr>
            <a:xfrm>
              <a:off x="-78473" y="-16175"/>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EC9F97">
                    <a:alpha val="100000"/>
                  </a:srgbClr>
                </a:gs>
                <a:gs pos="100000">
                  <a:srgbClr val="844162">
                    <a:alpha val="0"/>
                  </a:srgbClr>
                </a:gs>
              </a:gsLst>
              <a:lin ang="0"/>
            </a:gradFill>
          </p:spPr>
          <p:txBody>
            <a:bodyPr/>
            <a:lstStyle/>
            <a:p>
              <a:endParaRPr lang="ar-QA" dirty="0"/>
            </a:p>
          </p:txBody>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942"/>
                </a:lnSpc>
              </a:pPr>
              <a:endParaRPr/>
            </a:p>
          </p:txBody>
        </p:sp>
      </p:grpSp>
      <p:sp>
        <p:nvSpPr>
          <p:cNvPr id="13" name="TextBox 13"/>
          <p:cNvSpPr txBox="1"/>
          <p:nvPr/>
        </p:nvSpPr>
        <p:spPr>
          <a:xfrm>
            <a:off x="745792" y="381582"/>
            <a:ext cx="9539750" cy="1463410"/>
          </a:xfrm>
          <a:prstGeom prst="rect">
            <a:avLst/>
          </a:prstGeom>
        </p:spPr>
        <p:txBody>
          <a:bodyPr lIns="0" tIns="0" rIns="0" bIns="0" rtlCol="0" anchor="t">
            <a:spAutoFit/>
          </a:bodyPr>
          <a:lstStyle/>
          <a:p>
            <a:pPr algn="ctr">
              <a:lnSpc>
                <a:spcPts val="7622"/>
              </a:lnSpc>
            </a:pPr>
            <a:r>
              <a:rPr lang="en-US" sz="6352" b="1" dirty="0">
                <a:solidFill>
                  <a:srgbClr val="4467BB"/>
                </a:solidFill>
                <a:latin typeface="Hinnual Bold"/>
                <a:ea typeface="Hinnual Bold"/>
                <a:cs typeface="Hinnual Bold"/>
                <a:sym typeface="Hinnual Bold"/>
              </a:rPr>
              <a:t>Project Research</a:t>
            </a:r>
          </a:p>
        </p:txBody>
      </p:sp>
      <p:sp>
        <p:nvSpPr>
          <p:cNvPr id="14" name="TextBox 14"/>
          <p:cNvSpPr txBox="1"/>
          <p:nvPr/>
        </p:nvSpPr>
        <p:spPr>
          <a:xfrm>
            <a:off x="7884493" y="1638120"/>
            <a:ext cx="10122951" cy="5539232"/>
          </a:xfrm>
          <a:prstGeom prst="rect">
            <a:avLst/>
          </a:prstGeom>
        </p:spPr>
        <p:txBody>
          <a:bodyPr lIns="0" tIns="0" rIns="0" bIns="0" rtlCol="0" anchor="t">
            <a:spAutoFit/>
          </a:bodyPr>
          <a:lstStyle/>
          <a:p>
            <a:pPr algn="ctr">
              <a:lnSpc>
                <a:spcPts val="5488"/>
              </a:lnSpc>
              <a:spcBef>
                <a:spcPct val="0"/>
              </a:spcBef>
            </a:pPr>
            <a:r>
              <a:rPr lang="en-US" sz="3920" b="1" dirty="0">
                <a:solidFill>
                  <a:srgbClr val="FFFFFF"/>
                </a:solidFill>
                <a:latin typeface="Inter Bold"/>
                <a:ea typeface="Inter Bold"/>
                <a:cs typeface="Inter Bold"/>
                <a:sym typeface="Inter Bold"/>
              </a:rPr>
              <a:t>A separate </a:t>
            </a:r>
            <a:r>
              <a:rPr lang="en-US" sz="3920" b="1" dirty="0">
                <a:solidFill>
                  <a:srgbClr val="F9C266"/>
                </a:solidFill>
                <a:latin typeface="Inter Bold"/>
                <a:ea typeface="Inter Bold"/>
                <a:cs typeface="Inter Bold"/>
                <a:sym typeface="Inter Bold"/>
              </a:rPr>
              <a:t>December 2022</a:t>
            </a:r>
            <a:r>
              <a:rPr lang="en-US" sz="3920" b="1" dirty="0">
                <a:solidFill>
                  <a:srgbClr val="FFFFFF"/>
                </a:solidFill>
                <a:latin typeface="Inter Bold"/>
                <a:ea typeface="Inter Bold"/>
                <a:cs typeface="Inter Bold"/>
                <a:sym typeface="Inter Bold"/>
              </a:rPr>
              <a:t> study revealed that despite proven health benefits, mobile health adoption remains notably </a:t>
            </a:r>
            <a:r>
              <a:rPr lang="en-US" sz="3920" b="1" dirty="0">
                <a:solidFill>
                  <a:srgbClr val="F9C266"/>
                </a:solidFill>
                <a:latin typeface="Inter Bold"/>
                <a:ea typeface="Inter Bold"/>
                <a:cs typeface="Inter Bold"/>
                <a:sym typeface="Inter Bold"/>
              </a:rPr>
              <a:t>low in Egypt</a:t>
            </a:r>
            <a:r>
              <a:rPr lang="en-US" sz="3920" b="1" dirty="0">
                <a:solidFill>
                  <a:srgbClr val="FFFFFF"/>
                </a:solidFill>
                <a:latin typeface="Inter Bold"/>
                <a:ea typeface="Inter Bold"/>
                <a:cs typeface="Inter Bold"/>
                <a:sym typeface="Inter Bold"/>
              </a:rPr>
              <a:t>, with only </a:t>
            </a:r>
            <a:r>
              <a:rPr lang="en-US" sz="3920" b="1" dirty="0">
                <a:solidFill>
                  <a:srgbClr val="F9C266"/>
                </a:solidFill>
                <a:latin typeface="Inter Bold"/>
                <a:ea typeface="Inter Bold"/>
                <a:cs typeface="Inter Bold"/>
                <a:sym typeface="Inter Bold"/>
              </a:rPr>
              <a:t>27.4%</a:t>
            </a:r>
            <a:r>
              <a:rPr lang="en-US" sz="3920" b="1" dirty="0">
                <a:solidFill>
                  <a:srgbClr val="FFFFFF"/>
                </a:solidFill>
                <a:latin typeface="Inter Bold"/>
                <a:ea typeface="Inter Bold"/>
                <a:cs typeface="Inter Bold"/>
                <a:sym typeface="Inter Bold"/>
              </a:rPr>
              <a:t> active usage. Major regional barriers limiting engagement include poor usability, static algorithms, and a severe lack of culturally adapted personalization. </a:t>
            </a:r>
          </a:p>
        </p:txBody>
      </p:sp>
      <p:sp>
        <p:nvSpPr>
          <p:cNvPr id="15" name="TextBox 15"/>
          <p:cNvSpPr txBox="1"/>
          <p:nvPr/>
        </p:nvSpPr>
        <p:spPr>
          <a:xfrm>
            <a:off x="280556" y="6680989"/>
            <a:ext cx="7404150" cy="862737"/>
          </a:xfrm>
          <a:prstGeom prst="rect">
            <a:avLst/>
          </a:prstGeom>
        </p:spPr>
        <p:txBody>
          <a:bodyPr wrap="square" lIns="0" tIns="0" rIns="0" bIns="0" rtlCol="0" anchor="t">
            <a:spAutoFit/>
          </a:bodyPr>
          <a:lstStyle/>
          <a:p>
            <a:pPr algn="ctr">
              <a:lnSpc>
                <a:spcPts val="3527"/>
              </a:lnSpc>
              <a:spcBef>
                <a:spcPct val="0"/>
              </a:spcBef>
            </a:pPr>
            <a:r>
              <a:rPr lang="en-US" sz="2519" b="1" dirty="0">
                <a:solidFill>
                  <a:srgbClr val="FFFFFF"/>
                </a:solidFill>
                <a:latin typeface="Inter Bold"/>
                <a:ea typeface="Inter Bold"/>
                <a:cs typeface="Inter Bold"/>
                <a:sym typeface="Inter Bold"/>
              </a:rPr>
              <a:t>(Reference: Arafa, A., et al., December 9, 2022, Journal of Personalized Medicine)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467BB"/>
        </a:solidFill>
        <a:effectLst/>
      </p:bgPr>
    </p:bg>
    <p:spTree>
      <p:nvGrpSpPr>
        <p:cNvPr id="1" name=""/>
        <p:cNvGrpSpPr/>
        <p:nvPr/>
      </p:nvGrpSpPr>
      <p:grpSpPr>
        <a:xfrm>
          <a:off x="0" y="0"/>
          <a:ext cx="0" cy="0"/>
          <a:chOff x="0" y="0"/>
          <a:chExt cx="0" cy="0"/>
        </a:xfrm>
      </p:grpSpPr>
      <p:sp>
        <p:nvSpPr>
          <p:cNvPr id="2" name="AutoShape 2"/>
          <p:cNvSpPr/>
          <p:nvPr/>
        </p:nvSpPr>
        <p:spPr>
          <a:xfrm>
            <a:off x="3282295" y="7219673"/>
            <a:ext cx="11625320" cy="0"/>
          </a:xfrm>
          <a:prstGeom prst="line">
            <a:avLst/>
          </a:prstGeom>
          <a:ln w="38100" cap="flat">
            <a:solidFill>
              <a:srgbClr val="FFFFFF"/>
            </a:solidFill>
            <a:prstDash val="sysDot"/>
            <a:headEnd type="none" w="sm" len="sm"/>
            <a:tailEnd type="none" w="sm" len="sm"/>
          </a:ln>
        </p:spPr>
        <p:txBody>
          <a:bodyPr/>
          <a:lstStyle/>
          <a:p>
            <a:endParaRPr lang="ar-QA"/>
          </a:p>
        </p:txBody>
      </p:sp>
      <p:grpSp>
        <p:nvGrpSpPr>
          <p:cNvPr id="3" name="Group 3"/>
          <p:cNvGrpSpPr/>
          <p:nvPr/>
        </p:nvGrpSpPr>
        <p:grpSpPr>
          <a:xfrm>
            <a:off x="2076534" y="5022080"/>
            <a:ext cx="2339767" cy="1469271"/>
            <a:chOff x="0" y="0"/>
            <a:chExt cx="616235" cy="386968"/>
          </a:xfrm>
        </p:grpSpPr>
        <p:sp>
          <p:nvSpPr>
            <p:cNvPr id="4" name="Freeform 4"/>
            <p:cNvSpPr/>
            <p:nvPr/>
          </p:nvSpPr>
          <p:spPr>
            <a:xfrm>
              <a:off x="0" y="0"/>
              <a:ext cx="616235" cy="386968"/>
            </a:xfrm>
            <a:custGeom>
              <a:avLst/>
              <a:gdLst/>
              <a:ahLst/>
              <a:cxnLst/>
              <a:rect l="l" t="t" r="r" b="b"/>
              <a:pathLst>
                <a:path w="616235" h="386968">
                  <a:moveTo>
                    <a:pt x="95956" y="0"/>
                  </a:moveTo>
                  <a:lnTo>
                    <a:pt x="520278" y="0"/>
                  </a:lnTo>
                  <a:cubicBezTo>
                    <a:pt x="573274" y="0"/>
                    <a:pt x="616235" y="42961"/>
                    <a:pt x="616235" y="95956"/>
                  </a:cubicBezTo>
                  <a:lnTo>
                    <a:pt x="616235" y="291012"/>
                  </a:lnTo>
                  <a:cubicBezTo>
                    <a:pt x="616235" y="344007"/>
                    <a:pt x="573274" y="386968"/>
                    <a:pt x="520278" y="386968"/>
                  </a:cubicBezTo>
                  <a:lnTo>
                    <a:pt x="95956" y="386968"/>
                  </a:lnTo>
                  <a:cubicBezTo>
                    <a:pt x="42961" y="386968"/>
                    <a:pt x="0" y="344007"/>
                    <a:pt x="0" y="291012"/>
                  </a:cubicBezTo>
                  <a:lnTo>
                    <a:pt x="0" y="95956"/>
                  </a:lnTo>
                  <a:cubicBezTo>
                    <a:pt x="0" y="42961"/>
                    <a:pt x="42961" y="0"/>
                    <a:pt x="95956" y="0"/>
                  </a:cubicBezTo>
                  <a:close/>
                </a:path>
              </a:pathLst>
            </a:custGeom>
            <a:solidFill>
              <a:srgbClr val="F8C375"/>
            </a:solidFill>
          </p:spPr>
          <p:txBody>
            <a:bodyPr/>
            <a:lstStyle/>
            <a:p>
              <a:endParaRPr lang="ar-QA"/>
            </a:p>
          </p:txBody>
        </p:sp>
        <p:sp>
          <p:nvSpPr>
            <p:cNvPr id="5" name="TextBox 5"/>
            <p:cNvSpPr txBox="1"/>
            <p:nvPr/>
          </p:nvSpPr>
          <p:spPr>
            <a:xfrm>
              <a:off x="0" y="-38100"/>
              <a:ext cx="616235" cy="425068"/>
            </a:xfrm>
            <a:prstGeom prst="rect">
              <a:avLst/>
            </a:prstGeom>
          </p:spPr>
          <p:txBody>
            <a:bodyPr lIns="50800" tIns="50800" rIns="50800" bIns="50800" rtlCol="0" anchor="ctr"/>
            <a:lstStyle/>
            <a:p>
              <a:pPr algn="ctr">
                <a:lnSpc>
                  <a:spcPts val="2942"/>
                </a:lnSpc>
              </a:pPr>
              <a:endParaRPr/>
            </a:p>
          </p:txBody>
        </p:sp>
      </p:grpSp>
      <p:grpSp>
        <p:nvGrpSpPr>
          <p:cNvPr id="6" name="Group 6"/>
          <p:cNvGrpSpPr/>
          <p:nvPr/>
        </p:nvGrpSpPr>
        <p:grpSpPr>
          <a:xfrm>
            <a:off x="4968751" y="5022080"/>
            <a:ext cx="2339767" cy="1469271"/>
            <a:chOff x="0" y="0"/>
            <a:chExt cx="616235" cy="386968"/>
          </a:xfrm>
        </p:grpSpPr>
        <p:sp>
          <p:nvSpPr>
            <p:cNvPr id="7" name="Freeform 7"/>
            <p:cNvSpPr/>
            <p:nvPr/>
          </p:nvSpPr>
          <p:spPr>
            <a:xfrm>
              <a:off x="0" y="0"/>
              <a:ext cx="616235" cy="386968"/>
            </a:xfrm>
            <a:custGeom>
              <a:avLst/>
              <a:gdLst/>
              <a:ahLst/>
              <a:cxnLst/>
              <a:rect l="l" t="t" r="r" b="b"/>
              <a:pathLst>
                <a:path w="616235" h="386968">
                  <a:moveTo>
                    <a:pt x="95956" y="0"/>
                  </a:moveTo>
                  <a:lnTo>
                    <a:pt x="520278" y="0"/>
                  </a:lnTo>
                  <a:cubicBezTo>
                    <a:pt x="573274" y="0"/>
                    <a:pt x="616235" y="42961"/>
                    <a:pt x="616235" y="95956"/>
                  </a:cubicBezTo>
                  <a:lnTo>
                    <a:pt x="616235" y="291012"/>
                  </a:lnTo>
                  <a:cubicBezTo>
                    <a:pt x="616235" y="344007"/>
                    <a:pt x="573274" y="386968"/>
                    <a:pt x="520278" y="386968"/>
                  </a:cubicBezTo>
                  <a:lnTo>
                    <a:pt x="95956" y="386968"/>
                  </a:lnTo>
                  <a:cubicBezTo>
                    <a:pt x="42961" y="386968"/>
                    <a:pt x="0" y="344007"/>
                    <a:pt x="0" y="291012"/>
                  </a:cubicBezTo>
                  <a:lnTo>
                    <a:pt x="0" y="95956"/>
                  </a:lnTo>
                  <a:cubicBezTo>
                    <a:pt x="0" y="42961"/>
                    <a:pt x="42961" y="0"/>
                    <a:pt x="95956" y="0"/>
                  </a:cubicBezTo>
                  <a:close/>
                </a:path>
              </a:pathLst>
            </a:custGeom>
            <a:solidFill>
              <a:srgbClr val="F8C375"/>
            </a:solidFill>
          </p:spPr>
          <p:txBody>
            <a:bodyPr/>
            <a:lstStyle/>
            <a:p>
              <a:endParaRPr lang="ar-QA"/>
            </a:p>
          </p:txBody>
        </p:sp>
        <p:sp>
          <p:nvSpPr>
            <p:cNvPr id="8" name="TextBox 8"/>
            <p:cNvSpPr txBox="1"/>
            <p:nvPr/>
          </p:nvSpPr>
          <p:spPr>
            <a:xfrm>
              <a:off x="0" y="-38100"/>
              <a:ext cx="616235" cy="425068"/>
            </a:xfrm>
            <a:prstGeom prst="rect">
              <a:avLst/>
            </a:prstGeom>
          </p:spPr>
          <p:txBody>
            <a:bodyPr lIns="50800" tIns="50800" rIns="50800" bIns="50800" rtlCol="0" anchor="ctr"/>
            <a:lstStyle/>
            <a:p>
              <a:pPr algn="ctr">
                <a:lnSpc>
                  <a:spcPts val="2942"/>
                </a:lnSpc>
              </a:pPr>
              <a:r>
                <a:rPr lang="en-US" sz="2101" b="1">
                  <a:solidFill>
                    <a:srgbClr val="4467BB"/>
                  </a:solidFill>
                  <a:latin typeface="Inter Bold"/>
                  <a:ea typeface="Inter Bold"/>
                  <a:cs typeface="Inter Bold"/>
                  <a:sym typeface="Inter Bold"/>
                </a:rPr>
                <a:t>Gamification</a:t>
              </a:r>
            </a:p>
          </p:txBody>
        </p:sp>
      </p:grpSp>
      <p:grpSp>
        <p:nvGrpSpPr>
          <p:cNvPr id="9" name="Group 9"/>
          <p:cNvGrpSpPr/>
          <p:nvPr/>
        </p:nvGrpSpPr>
        <p:grpSpPr>
          <a:xfrm>
            <a:off x="7825090" y="5022080"/>
            <a:ext cx="2339767" cy="1469271"/>
            <a:chOff x="0" y="0"/>
            <a:chExt cx="616235" cy="386968"/>
          </a:xfrm>
        </p:grpSpPr>
        <p:sp>
          <p:nvSpPr>
            <p:cNvPr id="10" name="Freeform 10"/>
            <p:cNvSpPr/>
            <p:nvPr/>
          </p:nvSpPr>
          <p:spPr>
            <a:xfrm>
              <a:off x="0" y="0"/>
              <a:ext cx="616235" cy="386968"/>
            </a:xfrm>
            <a:custGeom>
              <a:avLst/>
              <a:gdLst/>
              <a:ahLst/>
              <a:cxnLst/>
              <a:rect l="l" t="t" r="r" b="b"/>
              <a:pathLst>
                <a:path w="616235" h="386968">
                  <a:moveTo>
                    <a:pt x="95956" y="0"/>
                  </a:moveTo>
                  <a:lnTo>
                    <a:pt x="520278" y="0"/>
                  </a:lnTo>
                  <a:cubicBezTo>
                    <a:pt x="573274" y="0"/>
                    <a:pt x="616235" y="42961"/>
                    <a:pt x="616235" y="95956"/>
                  </a:cubicBezTo>
                  <a:lnTo>
                    <a:pt x="616235" y="291012"/>
                  </a:lnTo>
                  <a:cubicBezTo>
                    <a:pt x="616235" y="344007"/>
                    <a:pt x="573274" y="386968"/>
                    <a:pt x="520278" y="386968"/>
                  </a:cubicBezTo>
                  <a:lnTo>
                    <a:pt x="95956" y="386968"/>
                  </a:lnTo>
                  <a:cubicBezTo>
                    <a:pt x="42961" y="386968"/>
                    <a:pt x="0" y="344007"/>
                    <a:pt x="0" y="291012"/>
                  </a:cubicBezTo>
                  <a:lnTo>
                    <a:pt x="0" y="95956"/>
                  </a:lnTo>
                  <a:cubicBezTo>
                    <a:pt x="0" y="42961"/>
                    <a:pt x="42961" y="0"/>
                    <a:pt x="95956" y="0"/>
                  </a:cubicBezTo>
                  <a:close/>
                </a:path>
              </a:pathLst>
            </a:custGeom>
            <a:solidFill>
              <a:srgbClr val="F8C375"/>
            </a:solidFill>
          </p:spPr>
          <p:txBody>
            <a:bodyPr/>
            <a:lstStyle/>
            <a:p>
              <a:endParaRPr lang="ar-QA"/>
            </a:p>
          </p:txBody>
        </p:sp>
        <p:sp>
          <p:nvSpPr>
            <p:cNvPr id="11" name="TextBox 11"/>
            <p:cNvSpPr txBox="1"/>
            <p:nvPr/>
          </p:nvSpPr>
          <p:spPr>
            <a:xfrm>
              <a:off x="0" y="-38100"/>
              <a:ext cx="616235" cy="425068"/>
            </a:xfrm>
            <a:prstGeom prst="rect">
              <a:avLst/>
            </a:prstGeom>
          </p:spPr>
          <p:txBody>
            <a:bodyPr lIns="50800" tIns="50800" rIns="50800" bIns="50800" rtlCol="0" anchor="ctr"/>
            <a:lstStyle/>
            <a:p>
              <a:pPr algn="ctr">
                <a:lnSpc>
                  <a:spcPts val="2942"/>
                </a:lnSpc>
              </a:pPr>
              <a:endParaRPr/>
            </a:p>
          </p:txBody>
        </p:sp>
      </p:grpSp>
      <p:grpSp>
        <p:nvGrpSpPr>
          <p:cNvPr id="12" name="Group 12"/>
          <p:cNvGrpSpPr/>
          <p:nvPr/>
        </p:nvGrpSpPr>
        <p:grpSpPr>
          <a:xfrm>
            <a:off x="10748710" y="5010490"/>
            <a:ext cx="2339767" cy="1469271"/>
            <a:chOff x="0" y="0"/>
            <a:chExt cx="616235" cy="386968"/>
          </a:xfrm>
        </p:grpSpPr>
        <p:sp>
          <p:nvSpPr>
            <p:cNvPr id="13" name="Freeform 13"/>
            <p:cNvSpPr/>
            <p:nvPr/>
          </p:nvSpPr>
          <p:spPr>
            <a:xfrm>
              <a:off x="0" y="0"/>
              <a:ext cx="616235" cy="386968"/>
            </a:xfrm>
            <a:custGeom>
              <a:avLst/>
              <a:gdLst/>
              <a:ahLst/>
              <a:cxnLst/>
              <a:rect l="l" t="t" r="r" b="b"/>
              <a:pathLst>
                <a:path w="616235" h="386968">
                  <a:moveTo>
                    <a:pt x="95956" y="0"/>
                  </a:moveTo>
                  <a:lnTo>
                    <a:pt x="520278" y="0"/>
                  </a:lnTo>
                  <a:cubicBezTo>
                    <a:pt x="573274" y="0"/>
                    <a:pt x="616235" y="42961"/>
                    <a:pt x="616235" y="95956"/>
                  </a:cubicBezTo>
                  <a:lnTo>
                    <a:pt x="616235" y="291012"/>
                  </a:lnTo>
                  <a:cubicBezTo>
                    <a:pt x="616235" y="344007"/>
                    <a:pt x="573274" y="386968"/>
                    <a:pt x="520278" y="386968"/>
                  </a:cubicBezTo>
                  <a:lnTo>
                    <a:pt x="95956" y="386968"/>
                  </a:lnTo>
                  <a:cubicBezTo>
                    <a:pt x="42961" y="386968"/>
                    <a:pt x="0" y="344007"/>
                    <a:pt x="0" y="291012"/>
                  </a:cubicBezTo>
                  <a:lnTo>
                    <a:pt x="0" y="95956"/>
                  </a:lnTo>
                  <a:cubicBezTo>
                    <a:pt x="0" y="42961"/>
                    <a:pt x="42961" y="0"/>
                    <a:pt x="95956" y="0"/>
                  </a:cubicBezTo>
                  <a:close/>
                </a:path>
              </a:pathLst>
            </a:custGeom>
            <a:solidFill>
              <a:srgbClr val="F8C375"/>
            </a:solidFill>
          </p:spPr>
          <p:txBody>
            <a:bodyPr/>
            <a:lstStyle/>
            <a:p>
              <a:endParaRPr lang="ar-QA"/>
            </a:p>
          </p:txBody>
        </p:sp>
        <p:sp>
          <p:nvSpPr>
            <p:cNvPr id="14" name="TextBox 14"/>
            <p:cNvSpPr txBox="1"/>
            <p:nvPr/>
          </p:nvSpPr>
          <p:spPr>
            <a:xfrm>
              <a:off x="0" y="-38100"/>
              <a:ext cx="616235" cy="425068"/>
            </a:xfrm>
            <a:prstGeom prst="rect">
              <a:avLst/>
            </a:prstGeom>
          </p:spPr>
          <p:txBody>
            <a:bodyPr lIns="50800" tIns="50800" rIns="50800" bIns="50800" rtlCol="0" anchor="ctr"/>
            <a:lstStyle/>
            <a:p>
              <a:pPr algn="ctr">
                <a:lnSpc>
                  <a:spcPts val="2942"/>
                </a:lnSpc>
              </a:pPr>
              <a:endParaRPr/>
            </a:p>
          </p:txBody>
        </p:sp>
      </p:grpSp>
      <p:grpSp>
        <p:nvGrpSpPr>
          <p:cNvPr id="15" name="Group 15"/>
          <p:cNvGrpSpPr/>
          <p:nvPr/>
        </p:nvGrpSpPr>
        <p:grpSpPr>
          <a:xfrm rot="3643369">
            <a:off x="15611960" y="4800796"/>
            <a:ext cx="5690895" cy="5690895"/>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EC9F97">
                    <a:alpha val="100000"/>
                  </a:srgbClr>
                </a:gs>
                <a:gs pos="100000">
                  <a:srgbClr val="844162">
                    <a:alpha val="0"/>
                  </a:srgbClr>
                </a:gs>
              </a:gsLst>
              <a:lin ang="0"/>
            </a:gradFill>
          </p:spPr>
          <p:txBody>
            <a:bodyPr/>
            <a:lstStyle/>
            <a:p>
              <a:endParaRPr lang="ar-QA"/>
            </a:p>
          </p:txBody>
        </p:sp>
        <p:sp>
          <p:nvSpPr>
            <p:cNvPr id="17" name="TextBox 17"/>
            <p:cNvSpPr txBox="1"/>
            <p:nvPr/>
          </p:nvSpPr>
          <p:spPr>
            <a:xfrm>
              <a:off x="76200" y="38100"/>
              <a:ext cx="660400" cy="698500"/>
            </a:xfrm>
            <a:prstGeom prst="rect">
              <a:avLst/>
            </a:prstGeom>
          </p:spPr>
          <p:txBody>
            <a:bodyPr lIns="50800" tIns="50800" rIns="50800" bIns="50800" rtlCol="0" anchor="ctr"/>
            <a:lstStyle/>
            <a:p>
              <a:pPr algn="ctr">
                <a:lnSpc>
                  <a:spcPts val="2942"/>
                </a:lnSpc>
              </a:pPr>
              <a:endParaRPr/>
            </a:p>
          </p:txBody>
        </p:sp>
      </p:grpSp>
      <p:grpSp>
        <p:nvGrpSpPr>
          <p:cNvPr id="18" name="Group 18"/>
          <p:cNvGrpSpPr/>
          <p:nvPr/>
        </p:nvGrpSpPr>
        <p:grpSpPr>
          <a:xfrm>
            <a:off x="13659977" y="4991440"/>
            <a:ext cx="2339767" cy="1469271"/>
            <a:chOff x="0" y="0"/>
            <a:chExt cx="616235" cy="386968"/>
          </a:xfrm>
        </p:grpSpPr>
        <p:sp>
          <p:nvSpPr>
            <p:cNvPr id="19" name="Freeform 19"/>
            <p:cNvSpPr/>
            <p:nvPr/>
          </p:nvSpPr>
          <p:spPr>
            <a:xfrm>
              <a:off x="0" y="0"/>
              <a:ext cx="616235" cy="386968"/>
            </a:xfrm>
            <a:custGeom>
              <a:avLst/>
              <a:gdLst/>
              <a:ahLst/>
              <a:cxnLst/>
              <a:rect l="l" t="t" r="r" b="b"/>
              <a:pathLst>
                <a:path w="616235" h="386968">
                  <a:moveTo>
                    <a:pt x="95956" y="0"/>
                  </a:moveTo>
                  <a:lnTo>
                    <a:pt x="520278" y="0"/>
                  </a:lnTo>
                  <a:cubicBezTo>
                    <a:pt x="573274" y="0"/>
                    <a:pt x="616235" y="42961"/>
                    <a:pt x="616235" y="95956"/>
                  </a:cubicBezTo>
                  <a:lnTo>
                    <a:pt x="616235" y="291012"/>
                  </a:lnTo>
                  <a:cubicBezTo>
                    <a:pt x="616235" y="344007"/>
                    <a:pt x="573274" y="386968"/>
                    <a:pt x="520278" y="386968"/>
                  </a:cubicBezTo>
                  <a:lnTo>
                    <a:pt x="95956" y="386968"/>
                  </a:lnTo>
                  <a:cubicBezTo>
                    <a:pt x="42961" y="386968"/>
                    <a:pt x="0" y="344007"/>
                    <a:pt x="0" y="291012"/>
                  </a:cubicBezTo>
                  <a:lnTo>
                    <a:pt x="0" y="95956"/>
                  </a:lnTo>
                  <a:cubicBezTo>
                    <a:pt x="0" y="42961"/>
                    <a:pt x="42961" y="0"/>
                    <a:pt x="95956" y="0"/>
                  </a:cubicBezTo>
                  <a:close/>
                </a:path>
              </a:pathLst>
            </a:custGeom>
            <a:solidFill>
              <a:srgbClr val="F8C375"/>
            </a:solidFill>
          </p:spPr>
          <p:txBody>
            <a:bodyPr/>
            <a:lstStyle/>
            <a:p>
              <a:endParaRPr lang="ar-QA"/>
            </a:p>
          </p:txBody>
        </p:sp>
        <p:sp>
          <p:nvSpPr>
            <p:cNvPr id="20" name="TextBox 20"/>
            <p:cNvSpPr txBox="1"/>
            <p:nvPr/>
          </p:nvSpPr>
          <p:spPr>
            <a:xfrm>
              <a:off x="0" y="-38100"/>
              <a:ext cx="616235" cy="425068"/>
            </a:xfrm>
            <a:prstGeom prst="rect">
              <a:avLst/>
            </a:prstGeom>
          </p:spPr>
          <p:txBody>
            <a:bodyPr lIns="50800" tIns="50800" rIns="50800" bIns="50800" rtlCol="0" anchor="ctr"/>
            <a:lstStyle/>
            <a:p>
              <a:pPr algn="ctr">
                <a:lnSpc>
                  <a:spcPts val="2942"/>
                </a:lnSpc>
              </a:pPr>
              <a:endParaRPr/>
            </a:p>
          </p:txBody>
        </p:sp>
      </p:grpSp>
      <p:grpSp>
        <p:nvGrpSpPr>
          <p:cNvPr id="21" name="Group 21"/>
          <p:cNvGrpSpPr/>
          <p:nvPr/>
        </p:nvGrpSpPr>
        <p:grpSpPr>
          <a:xfrm>
            <a:off x="2983174" y="6866197"/>
            <a:ext cx="668853" cy="668853"/>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ar-QA"/>
            </a:p>
          </p:txBody>
        </p:sp>
        <p:sp>
          <p:nvSpPr>
            <p:cNvPr id="23" name="TextBox 23"/>
            <p:cNvSpPr txBox="1"/>
            <p:nvPr/>
          </p:nvSpPr>
          <p:spPr>
            <a:xfrm>
              <a:off x="76200" y="38100"/>
              <a:ext cx="660400" cy="698500"/>
            </a:xfrm>
            <a:prstGeom prst="rect">
              <a:avLst/>
            </a:prstGeom>
          </p:spPr>
          <p:txBody>
            <a:bodyPr lIns="50800" tIns="50800" rIns="50800" bIns="50800" rtlCol="0" anchor="ctr"/>
            <a:lstStyle/>
            <a:p>
              <a:pPr algn="ctr">
                <a:lnSpc>
                  <a:spcPts val="2942"/>
                </a:lnSpc>
              </a:pPr>
              <a:endParaRPr/>
            </a:p>
          </p:txBody>
        </p:sp>
      </p:grpSp>
      <p:grpSp>
        <p:nvGrpSpPr>
          <p:cNvPr id="24" name="Group 24"/>
          <p:cNvGrpSpPr/>
          <p:nvPr/>
        </p:nvGrpSpPr>
        <p:grpSpPr>
          <a:xfrm>
            <a:off x="5804208" y="6866197"/>
            <a:ext cx="668853" cy="668853"/>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ar-QA"/>
            </a:p>
          </p:txBody>
        </p:sp>
        <p:sp>
          <p:nvSpPr>
            <p:cNvPr id="26" name="TextBox 26"/>
            <p:cNvSpPr txBox="1"/>
            <p:nvPr/>
          </p:nvSpPr>
          <p:spPr>
            <a:xfrm>
              <a:off x="76200" y="38100"/>
              <a:ext cx="660400" cy="698500"/>
            </a:xfrm>
            <a:prstGeom prst="rect">
              <a:avLst/>
            </a:prstGeom>
          </p:spPr>
          <p:txBody>
            <a:bodyPr lIns="50800" tIns="50800" rIns="50800" bIns="50800" rtlCol="0" anchor="ctr"/>
            <a:lstStyle/>
            <a:p>
              <a:pPr algn="ctr">
                <a:lnSpc>
                  <a:spcPts val="2942"/>
                </a:lnSpc>
              </a:pPr>
              <a:endParaRPr/>
            </a:p>
          </p:txBody>
        </p:sp>
      </p:grpSp>
      <p:grpSp>
        <p:nvGrpSpPr>
          <p:cNvPr id="27" name="Group 27"/>
          <p:cNvGrpSpPr/>
          <p:nvPr/>
        </p:nvGrpSpPr>
        <p:grpSpPr>
          <a:xfrm>
            <a:off x="8660546" y="6866197"/>
            <a:ext cx="668853" cy="66885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ar-QA"/>
            </a:p>
          </p:txBody>
        </p:sp>
        <p:sp>
          <p:nvSpPr>
            <p:cNvPr id="29" name="TextBox 29"/>
            <p:cNvSpPr txBox="1"/>
            <p:nvPr/>
          </p:nvSpPr>
          <p:spPr>
            <a:xfrm>
              <a:off x="76200" y="38100"/>
              <a:ext cx="660400" cy="698500"/>
            </a:xfrm>
            <a:prstGeom prst="rect">
              <a:avLst/>
            </a:prstGeom>
          </p:spPr>
          <p:txBody>
            <a:bodyPr lIns="50800" tIns="50800" rIns="50800" bIns="50800" rtlCol="0" anchor="ctr"/>
            <a:lstStyle/>
            <a:p>
              <a:pPr algn="ctr">
                <a:lnSpc>
                  <a:spcPts val="2942"/>
                </a:lnSpc>
              </a:pPr>
              <a:endParaRPr/>
            </a:p>
          </p:txBody>
        </p:sp>
      </p:grpSp>
      <p:grpSp>
        <p:nvGrpSpPr>
          <p:cNvPr id="30" name="Group 30"/>
          <p:cNvGrpSpPr/>
          <p:nvPr/>
        </p:nvGrpSpPr>
        <p:grpSpPr>
          <a:xfrm>
            <a:off x="11584167" y="6866197"/>
            <a:ext cx="668853" cy="668853"/>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ar-QA"/>
            </a:p>
          </p:txBody>
        </p:sp>
        <p:sp>
          <p:nvSpPr>
            <p:cNvPr id="32" name="TextBox 32"/>
            <p:cNvSpPr txBox="1"/>
            <p:nvPr/>
          </p:nvSpPr>
          <p:spPr>
            <a:xfrm>
              <a:off x="76200" y="38100"/>
              <a:ext cx="660400" cy="698500"/>
            </a:xfrm>
            <a:prstGeom prst="rect">
              <a:avLst/>
            </a:prstGeom>
          </p:spPr>
          <p:txBody>
            <a:bodyPr lIns="50800" tIns="50800" rIns="50800" bIns="50800" rtlCol="0" anchor="ctr"/>
            <a:lstStyle/>
            <a:p>
              <a:pPr algn="ctr">
                <a:lnSpc>
                  <a:spcPts val="2942"/>
                </a:lnSpc>
              </a:pPr>
              <a:endParaRPr/>
            </a:p>
          </p:txBody>
        </p:sp>
      </p:grpSp>
      <p:grpSp>
        <p:nvGrpSpPr>
          <p:cNvPr id="33" name="Group 33"/>
          <p:cNvGrpSpPr/>
          <p:nvPr/>
        </p:nvGrpSpPr>
        <p:grpSpPr>
          <a:xfrm>
            <a:off x="14495434" y="6866197"/>
            <a:ext cx="668853" cy="668853"/>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ar-QA"/>
            </a:p>
          </p:txBody>
        </p:sp>
        <p:sp>
          <p:nvSpPr>
            <p:cNvPr id="35" name="TextBox 35"/>
            <p:cNvSpPr txBox="1"/>
            <p:nvPr/>
          </p:nvSpPr>
          <p:spPr>
            <a:xfrm>
              <a:off x="76200" y="38100"/>
              <a:ext cx="660400" cy="698500"/>
            </a:xfrm>
            <a:prstGeom prst="rect">
              <a:avLst/>
            </a:prstGeom>
          </p:spPr>
          <p:txBody>
            <a:bodyPr lIns="50800" tIns="50800" rIns="50800" bIns="50800" rtlCol="0" anchor="ctr"/>
            <a:lstStyle/>
            <a:p>
              <a:pPr algn="ctr">
                <a:lnSpc>
                  <a:spcPts val="2942"/>
                </a:lnSpc>
              </a:pPr>
              <a:endParaRPr/>
            </a:p>
          </p:txBody>
        </p:sp>
      </p:grpSp>
      <p:sp>
        <p:nvSpPr>
          <p:cNvPr id="36" name="TextBox 36"/>
          <p:cNvSpPr txBox="1"/>
          <p:nvPr/>
        </p:nvSpPr>
        <p:spPr>
          <a:xfrm>
            <a:off x="2410950" y="877242"/>
            <a:ext cx="13711488" cy="1495425"/>
          </a:xfrm>
          <a:prstGeom prst="rect">
            <a:avLst/>
          </a:prstGeom>
        </p:spPr>
        <p:txBody>
          <a:bodyPr lIns="0" tIns="0" rIns="0" bIns="0" rtlCol="0" anchor="t">
            <a:spAutoFit/>
          </a:bodyPr>
          <a:lstStyle/>
          <a:p>
            <a:pPr algn="ctr">
              <a:lnSpc>
                <a:spcPts val="8400"/>
              </a:lnSpc>
            </a:pPr>
            <a:r>
              <a:rPr lang="en-US" sz="6000" b="1" dirty="0">
                <a:solidFill>
                  <a:srgbClr val="FFFFFF"/>
                </a:solidFill>
                <a:latin typeface="Hinnual Bold"/>
                <a:ea typeface="Hinnual Bold"/>
                <a:cs typeface="Hinnual Bold"/>
                <a:sym typeface="Hinnual Bold"/>
              </a:rPr>
              <a:t>Unique Features in Privilege</a:t>
            </a:r>
          </a:p>
        </p:txBody>
      </p:sp>
      <p:sp>
        <p:nvSpPr>
          <p:cNvPr id="37" name="TextBox 37"/>
          <p:cNvSpPr txBox="1"/>
          <p:nvPr/>
        </p:nvSpPr>
        <p:spPr>
          <a:xfrm>
            <a:off x="942407" y="2044268"/>
            <a:ext cx="16403187" cy="3009265"/>
          </a:xfrm>
          <a:prstGeom prst="rect">
            <a:avLst/>
          </a:prstGeom>
        </p:spPr>
        <p:txBody>
          <a:bodyPr lIns="0" tIns="0" rIns="0" bIns="0" rtlCol="0" anchor="t">
            <a:spAutoFit/>
          </a:bodyPr>
          <a:lstStyle/>
          <a:p>
            <a:pPr algn="ctr">
              <a:lnSpc>
                <a:spcPts val="3079"/>
              </a:lnSpc>
            </a:pPr>
            <a:r>
              <a:rPr lang="en-US" sz="2199">
                <a:solidFill>
                  <a:srgbClr val="FFFFFF"/>
                </a:solidFill>
                <a:latin typeface="Nourd"/>
                <a:ea typeface="Nourd"/>
                <a:cs typeface="Nourd"/>
                <a:sym typeface="Nourd"/>
              </a:rPr>
              <a:t>Building on the insights from the two studies presented earlier, we are excited to introduce our upcoming fitness app project, </a:t>
            </a:r>
            <a:r>
              <a:rPr lang="en-US" sz="2199" b="1">
                <a:solidFill>
                  <a:srgbClr val="F9C266"/>
                </a:solidFill>
                <a:latin typeface="Nourd Bold"/>
                <a:ea typeface="Nourd Bold"/>
                <a:cs typeface="Nourd Bold"/>
                <a:sym typeface="Nourd Bold"/>
              </a:rPr>
              <a:t>Privilege</a:t>
            </a:r>
            <a:r>
              <a:rPr lang="en-US" sz="2199">
                <a:solidFill>
                  <a:srgbClr val="FFFFFF"/>
                </a:solidFill>
                <a:latin typeface="Nourd"/>
                <a:ea typeface="Nourd"/>
                <a:cs typeface="Nourd"/>
                <a:sym typeface="Nourd"/>
              </a:rPr>
              <a:t>.</a:t>
            </a:r>
          </a:p>
          <a:p>
            <a:pPr algn="ctr">
              <a:lnSpc>
                <a:spcPts val="3079"/>
              </a:lnSpc>
            </a:pPr>
            <a:r>
              <a:rPr lang="en-US" sz="2199">
                <a:solidFill>
                  <a:srgbClr val="FFFFFF"/>
                </a:solidFill>
                <a:latin typeface="Nourd"/>
                <a:ea typeface="Nourd"/>
                <a:cs typeface="Nourd"/>
                <a:sym typeface="Nourd"/>
              </a:rPr>
              <a:t>During our market research, we identified a critical stagnation in the current industry. When examining leading platforms like </a:t>
            </a:r>
            <a:r>
              <a:rPr lang="en-US" sz="2199" b="1">
                <a:solidFill>
                  <a:srgbClr val="FFFFFF"/>
                </a:solidFill>
                <a:latin typeface="Nourd Bold"/>
                <a:ea typeface="Nourd Bold"/>
                <a:cs typeface="Nourd Bold"/>
                <a:sym typeface="Nourd Bold"/>
              </a:rPr>
              <a:t>MyFitnessPal, Strava, and Nike Training Club</a:t>
            </a:r>
            <a:r>
              <a:rPr lang="en-US" sz="2199">
                <a:solidFill>
                  <a:srgbClr val="FFFFFF"/>
                </a:solidFill>
                <a:latin typeface="Nourd"/>
                <a:ea typeface="Nourd"/>
                <a:cs typeface="Nourd"/>
                <a:sym typeface="Nourd"/>
              </a:rPr>
              <a:t>, we realized that today's fitness apps are fundamentally identical. While they offer different visual layouts, color schemes, and branding, they all recycle the exact same core features—tracking, basic analytics, and generic plans. They differ entirely in aesthetics rather than actual functionality, which is exactly the gap</a:t>
            </a:r>
            <a:r>
              <a:rPr lang="en-US" sz="2199" b="1">
                <a:solidFill>
                  <a:srgbClr val="F9C266"/>
                </a:solidFill>
                <a:latin typeface="Nourd Bold"/>
                <a:ea typeface="Nourd Bold"/>
                <a:cs typeface="Nourd Bold"/>
                <a:sym typeface="Nourd Bold"/>
              </a:rPr>
              <a:t> Privilege</a:t>
            </a:r>
            <a:r>
              <a:rPr lang="en-US" sz="2199">
                <a:solidFill>
                  <a:srgbClr val="FFFFFF"/>
                </a:solidFill>
                <a:latin typeface="Nourd"/>
                <a:ea typeface="Nourd"/>
                <a:cs typeface="Nourd"/>
                <a:sym typeface="Nourd"/>
              </a:rPr>
              <a:t> is designed to fill.</a:t>
            </a:r>
          </a:p>
          <a:p>
            <a:pPr algn="ctr">
              <a:lnSpc>
                <a:spcPts val="2239"/>
              </a:lnSpc>
            </a:pPr>
            <a:endParaRPr lang="en-US" sz="2199">
              <a:solidFill>
                <a:srgbClr val="FFFFFF"/>
              </a:solidFill>
              <a:latin typeface="Nourd"/>
              <a:ea typeface="Nourd"/>
              <a:cs typeface="Nourd"/>
              <a:sym typeface="Nourd"/>
            </a:endParaRPr>
          </a:p>
        </p:txBody>
      </p:sp>
      <p:sp>
        <p:nvSpPr>
          <p:cNvPr id="38" name="TextBox 38"/>
          <p:cNvSpPr txBox="1"/>
          <p:nvPr/>
        </p:nvSpPr>
        <p:spPr>
          <a:xfrm>
            <a:off x="2388637" y="8363725"/>
            <a:ext cx="13510727" cy="1470660"/>
          </a:xfrm>
          <a:prstGeom prst="rect">
            <a:avLst/>
          </a:prstGeom>
        </p:spPr>
        <p:txBody>
          <a:bodyPr lIns="0" tIns="0" rIns="0" bIns="0" rtlCol="0" anchor="t">
            <a:spAutoFit/>
          </a:bodyPr>
          <a:lstStyle/>
          <a:p>
            <a:pPr algn="ctr">
              <a:lnSpc>
                <a:spcPts val="2939"/>
              </a:lnSpc>
            </a:pPr>
            <a:r>
              <a:rPr lang="en-US" sz="2099" b="1" i="1">
                <a:solidFill>
                  <a:srgbClr val="FFFFFF"/>
                </a:solidFill>
                <a:latin typeface="Inter Bold Italics"/>
                <a:ea typeface="Inter Bold Italics"/>
                <a:cs typeface="Inter Bold Italics"/>
                <a:sym typeface="Inter Bold Italics"/>
              </a:rPr>
              <a:t>AI</a:t>
            </a:r>
            <a:r>
              <a:rPr lang="en-US" sz="2099">
                <a:solidFill>
                  <a:srgbClr val="FFFFFF"/>
                </a:solidFill>
                <a:latin typeface="Inter"/>
                <a:ea typeface="Inter"/>
                <a:cs typeface="Inter"/>
                <a:sym typeface="Inter"/>
              </a:rPr>
              <a:t> delivers intelligent chat assistance, while </a:t>
            </a:r>
            <a:r>
              <a:rPr lang="en-US" sz="2099" b="1" i="1">
                <a:solidFill>
                  <a:srgbClr val="FFFFFF"/>
                </a:solidFill>
                <a:latin typeface="Inter Bold Italics"/>
                <a:ea typeface="Inter Bold Italics"/>
                <a:cs typeface="Inter Bold Italics"/>
                <a:sym typeface="Inter Bold Italics"/>
              </a:rPr>
              <a:t>Gamification</a:t>
            </a:r>
            <a:r>
              <a:rPr lang="en-US" sz="2099" i="1">
                <a:solidFill>
                  <a:srgbClr val="FFFFFF"/>
                </a:solidFill>
                <a:latin typeface="Inter Italics"/>
                <a:ea typeface="Inter Italics"/>
                <a:cs typeface="Inter Italics"/>
                <a:sym typeface="Inter Italics"/>
              </a:rPr>
              <a:t> </a:t>
            </a:r>
            <a:r>
              <a:rPr lang="en-US" sz="2099">
                <a:solidFill>
                  <a:srgbClr val="FFFFFF"/>
                </a:solidFill>
                <a:latin typeface="Inter"/>
                <a:ea typeface="Inter"/>
                <a:cs typeface="Inter"/>
                <a:sym typeface="Inter"/>
              </a:rPr>
              <a:t>drives user motivation through community challenges, streaks, and rewards.</a:t>
            </a:r>
            <a:r>
              <a:rPr lang="en-US" sz="2099" b="1" i="1">
                <a:solidFill>
                  <a:srgbClr val="FFFFFF"/>
                </a:solidFill>
                <a:latin typeface="Inter Bold Italics"/>
                <a:ea typeface="Inter Bold Italics"/>
                <a:cs typeface="Inter Bold Italics"/>
                <a:sym typeface="Inter Bold Italics"/>
              </a:rPr>
              <a:t>Nutrition</a:t>
            </a:r>
            <a:r>
              <a:rPr lang="en-US" sz="2099">
                <a:solidFill>
                  <a:srgbClr val="FFFFFF"/>
                </a:solidFill>
                <a:latin typeface="Inter"/>
                <a:ea typeface="Inter"/>
                <a:cs typeface="Inter"/>
                <a:sym typeface="Inter"/>
              </a:rPr>
              <a:t> manages dietary flexibility via a cheat meal organizer, and </a:t>
            </a:r>
            <a:r>
              <a:rPr lang="en-US" sz="2099" b="1" i="1">
                <a:solidFill>
                  <a:srgbClr val="FFFFFF"/>
                </a:solidFill>
                <a:latin typeface="Inter Bold Italics"/>
                <a:ea typeface="Inter Bold Italics"/>
                <a:cs typeface="Inter Bold Italics"/>
                <a:sym typeface="Inter Bold Italics"/>
              </a:rPr>
              <a:t>Integration</a:t>
            </a:r>
            <a:r>
              <a:rPr lang="en-US" sz="2099">
                <a:solidFill>
                  <a:srgbClr val="FFFFFF"/>
                </a:solidFill>
                <a:latin typeface="Inter"/>
                <a:ea typeface="Inter"/>
                <a:cs typeface="Inter"/>
                <a:sym typeface="Inter"/>
              </a:rPr>
              <a:t> unifies different athletic activities through sports merging.</a:t>
            </a:r>
            <a:r>
              <a:rPr lang="en-US" sz="2099" b="1" i="1">
                <a:solidFill>
                  <a:srgbClr val="FFFFFF"/>
                </a:solidFill>
                <a:latin typeface="Inter Bold Italics"/>
                <a:ea typeface="Inter Bold Italics"/>
                <a:cs typeface="Inter Bold Italics"/>
                <a:sym typeface="Inter Bold Italics"/>
              </a:rPr>
              <a:t>Progression</a:t>
            </a:r>
            <a:r>
              <a:rPr lang="en-US" sz="2099">
                <a:solidFill>
                  <a:srgbClr val="FFFFFF"/>
                </a:solidFill>
                <a:latin typeface="Inter"/>
                <a:ea typeface="Inter"/>
                <a:cs typeface="Inter"/>
                <a:sym typeface="Inter"/>
              </a:rPr>
              <a:t> tracks user development by structuring their fitness journey through distinct, classified achievement levels.</a:t>
            </a:r>
          </a:p>
        </p:txBody>
      </p:sp>
      <p:sp>
        <p:nvSpPr>
          <p:cNvPr id="39" name="TextBox 39"/>
          <p:cNvSpPr txBox="1"/>
          <p:nvPr/>
        </p:nvSpPr>
        <p:spPr>
          <a:xfrm>
            <a:off x="2233352" y="5519403"/>
            <a:ext cx="1988030" cy="356194"/>
          </a:xfrm>
          <a:prstGeom prst="rect">
            <a:avLst/>
          </a:prstGeom>
        </p:spPr>
        <p:txBody>
          <a:bodyPr lIns="0" tIns="0" rIns="0" bIns="0" rtlCol="0" anchor="t">
            <a:spAutoFit/>
          </a:bodyPr>
          <a:lstStyle/>
          <a:p>
            <a:pPr algn="ctr">
              <a:lnSpc>
                <a:spcPts val="2942"/>
              </a:lnSpc>
            </a:pPr>
            <a:r>
              <a:rPr lang="en-US" sz="2101" b="1">
                <a:solidFill>
                  <a:srgbClr val="4467BB"/>
                </a:solidFill>
                <a:latin typeface="Inter Bold"/>
                <a:ea typeface="Inter Bold"/>
                <a:cs typeface="Inter Bold"/>
                <a:sym typeface="Inter Bold"/>
              </a:rPr>
              <a:t>AI chat bot</a:t>
            </a:r>
          </a:p>
        </p:txBody>
      </p:sp>
      <p:sp>
        <p:nvSpPr>
          <p:cNvPr id="40" name="TextBox 40"/>
          <p:cNvSpPr txBox="1"/>
          <p:nvPr/>
        </p:nvSpPr>
        <p:spPr>
          <a:xfrm>
            <a:off x="2323585" y="7003476"/>
            <a:ext cx="1988030" cy="356128"/>
          </a:xfrm>
          <a:prstGeom prst="rect">
            <a:avLst/>
          </a:prstGeom>
        </p:spPr>
        <p:txBody>
          <a:bodyPr lIns="0" tIns="0" rIns="0" bIns="0" rtlCol="0" anchor="t">
            <a:spAutoFit/>
          </a:bodyPr>
          <a:lstStyle/>
          <a:p>
            <a:pPr algn="ctr">
              <a:lnSpc>
                <a:spcPts val="2942"/>
              </a:lnSpc>
            </a:pPr>
            <a:r>
              <a:rPr lang="en-US" sz="2101" b="1">
                <a:solidFill>
                  <a:srgbClr val="4467BB"/>
                </a:solidFill>
                <a:latin typeface="Inter Bold"/>
                <a:ea typeface="Inter Bold"/>
                <a:cs typeface="Inter Bold"/>
                <a:sym typeface="Inter Bold"/>
              </a:rPr>
              <a:t>01.</a:t>
            </a:r>
          </a:p>
        </p:txBody>
      </p:sp>
      <p:sp>
        <p:nvSpPr>
          <p:cNvPr id="41" name="TextBox 41"/>
          <p:cNvSpPr txBox="1"/>
          <p:nvPr/>
        </p:nvSpPr>
        <p:spPr>
          <a:xfrm>
            <a:off x="5144619" y="7003476"/>
            <a:ext cx="1988030" cy="356128"/>
          </a:xfrm>
          <a:prstGeom prst="rect">
            <a:avLst/>
          </a:prstGeom>
        </p:spPr>
        <p:txBody>
          <a:bodyPr lIns="0" tIns="0" rIns="0" bIns="0" rtlCol="0" anchor="t">
            <a:spAutoFit/>
          </a:bodyPr>
          <a:lstStyle/>
          <a:p>
            <a:pPr algn="ctr">
              <a:lnSpc>
                <a:spcPts val="2942"/>
              </a:lnSpc>
            </a:pPr>
            <a:r>
              <a:rPr lang="en-US" sz="2101" b="1">
                <a:solidFill>
                  <a:srgbClr val="4467BB"/>
                </a:solidFill>
                <a:latin typeface="Inter Bold"/>
                <a:ea typeface="Inter Bold"/>
                <a:cs typeface="Inter Bold"/>
                <a:sym typeface="Inter Bold"/>
              </a:rPr>
              <a:t>02.</a:t>
            </a:r>
          </a:p>
        </p:txBody>
      </p:sp>
      <p:sp>
        <p:nvSpPr>
          <p:cNvPr id="42" name="TextBox 42"/>
          <p:cNvSpPr txBox="1"/>
          <p:nvPr/>
        </p:nvSpPr>
        <p:spPr>
          <a:xfrm>
            <a:off x="8000958" y="7003476"/>
            <a:ext cx="1988030" cy="356128"/>
          </a:xfrm>
          <a:prstGeom prst="rect">
            <a:avLst/>
          </a:prstGeom>
        </p:spPr>
        <p:txBody>
          <a:bodyPr lIns="0" tIns="0" rIns="0" bIns="0" rtlCol="0" anchor="t">
            <a:spAutoFit/>
          </a:bodyPr>
          <a:lstStyle/>
          <a:p>
            <a:pPr algn="ctr">
              <a:lnSpc>
                <a:spcPts val="2942"/>
              </a:lnSpc>
            </a:pPr>
            <a:r>
              <a:rPr lang="en-US" sz="2101" b="1">
                <a:solidFill>
                  <a:srgbClr val="4467BB"/>
                </a:solidFill>
                <a:latin typeface="Inter Bold"/>
                <a:ea typeface="Inter Bold"/>
                <a:cs typeface="Inter Bold"/>
                <a:sym typeface="Inter Bold"/>
              </a:rPr>
              <a:t>03.</a:t>
            </a:r>
          </a:p>
        </p:txBody>
      </p:sp>
      <p:sp>
        <p:nvSpPr>
          <p:cNvPr id="43" name="TextBox 43"/>
          <p:cNvSpPr txBox="1"/>
          <p:nvPr/>
        </p:nvSpPr>
        <p:spPr>
          <a:xfrm>
            <a:off x="10924579" y="7003476"/>
            <a:ext cx="1988030" cy="356128"/>
          </a:xfrm>
          <a:prstGeom prst="rect">
            <a:avLst/>
          </a:prstGeom>
        </p:spPr>
        <p:txBody>
          <a:bodyPr lIns="0" tIns="0" rIns="0" bIns="0" rtlCol="0" anchor="t">
            <a:spAutoFit/>
          </a:bodyPr>
          <a:lstStyle/>
          <a:p>
            <a:pPr algn="ctr">
              <a:lnSpc>
                <a:spcPts val="2942"/>
              </a:lnSpc>
            </a:pPr>
            <a:r>
              <a:rPr lang="en-US" sz="2101" b="1">
                <a:solidFill>
                  <a:srgbClr val="4467BB"/>
                </a:solidFill>
                <a:latin typeface="Inter Bold"/>
                <a:ea typeface="Inter Bold"/>
                <a:cs typeface="Inter Bold"/>
                <a:sym typeface="Inter Bold"/>
              </a:rPr>
              <a:t>04.</a:t>
            </a:r>
          </a:p>
        </p:txBody>
      </p:sp>
      <p:sp>
        <p:nvSpPr>
          <p:cNvPr id="44" name="TextBox 44"/>
          <p:cNvSpPr txBox="1"/>
          <p:nvPr/>
        </p:nvSpPr>
        <p:spPr>
          <a:xfrm>
            <a:off x="13835845" y="7003476"/>
            <a:ext cx="1988030" cy="356128"/>
          </a:xfrm>
          <a:prstGeom prst="rect">
            <a:avLst/>
          </a:prstGeom>
        </p:spPr>
        <p:txBody>
          <a:bodyPr lIns="0" tIns="0" rIns="0" bIns="0" rtlCol="0" anchor="t">
            <a:spAutoFit/>
          </a:bodyPr>
          <a:lstStyle/>
          <a:p>
            <a:pPr algn="ctr">
              <a:lnSpc>
                <a:spcPts val="2942"/>
              </a:lnSpc>
            </a:pPr>
            <a:r>
              <a:rPr lang="en-US" sz="2101" b="1">
                <a:solidFill>
                  <a:srgbClr val="4467BB"/>
                </a:solidFill>
                <a:latin typeface="Inter Bold"/>
                <a:ea typeface="Inter Bold"/>
                <a:cs typeface="Inter Bold"/>
                <a:sym typeface="Inter Bold"/>
              </a:rPr>
              <a:t>05.</a:t>
            </a:r>
          </a:p>
        </p:txBody>
      </p:sp>
      <p:sp>
        <p:nvSpPr>
          <p:cNvPr id="45" name="TextBox 45"/>
          <p:cNvSpPr txBox="1"/>
          <p:nvPr/>
        </p:nvSpPr>
        <p:spPr>
          <a:xfrm>
            <a:off x="7854623" y="5519403"/>
            <a:ext cx="2370212" cy="356194"/>
          </a:xfrm>
          <a:prstGeom prst="rect">
            <a:avLst/>
          </a:prstGeom>
        </p:spPr>
        <p:txBody>
          <a:bodyPr lIns="0" tIns="0" rIns="0" bIns="0" rtlCol="0" anchor="t">
            <a:spAutoFit/>
          </a:bodyPr>
          <a:lstStyle/>
          <a:p>
            <a:pPr algn="ctr">
              <a:lnSpc>
                <a:spcPts val="2942"/>
              </a:lnSpc>
            </a:pPr>
            <a:r>
              <a:rPr lang="en-US" sz="2101" b="1">
                <a:solidFill>
                  <a:srgbClr val="4467BB"/>
                </a:solidFill>
                <a:latin typeface="Inter Bold"/>
                <a:ea typeface="Inter Bold"/>
                <a:cs typeface="Inter Bold"/>
                <a:sym typeface="Inter Bold"/>
              </a:rPr>
              <a:t>Nutrition</a:t>
            </a:r>
          </a:p>
        </p:txBody>
      </p:sp>
      <p:sp>
        <p:nvSpPr>
          <p:cNvPr id="46" name="TextBox 46"/>
          <p:cNvSpPr txBox="1"/>
          <p:nvPr/>
        </p:nvSpPr>
        <p:spPr>
          <a:xfrm>
            <a:off x="11091783" y="5510733"/>
            <a:ext cx="1653621" cy="356194"/>
          </a:xfrm>
          <a:prstGeom prst="rect">
            <a:avLst/>
          </a:prstGeom>
        </p:spPr>
        <p:txBody>
          <a:bodyPr lIns="0" tIns="0" rIns="0" bIns="0" rtlCol="0" anchor="t">
            <a:spAutoFit/>
          </a:bodyPr>
          <a:lstStyle/>
          <a:p>
            <a:pPr algn="ctr">
              <a:lnSpc>
                <a:spcPts val="2942"/>
              </a:lnSpc>
            </a:pPr>
            <a:r>
              <a:rPr lang="en-US" sz="2101" b="1">
                <a:solidFill>
                  <a:srgbClr val="4467BB"/>
                </a:solidFill>
                <a:latin typeface="Inter Bold"/>
                <a:ea typeface="Inter Bold"/>
                <a:cs typeface="Inter Bold"/>
                <a:sym typeface="Inter Bold"/>
              </a:rPr>
              <a:t>Integeration</a:t>
            </a:r>
          </a:p>
        </p:txBody>
      </p:sp>
      <p:sp>
        <p:nvSpPr>
          <p:cNvPr id="47" name="TextBox 47"/>
          <p:cNvSpPr txBox="1"/>
          <p:nvPr/>
        </p:nvSpPr>
        <p:spPr>
          <a:xfrm>
            <a:off x="13987126" y="5510733"/>
            <a:ext cx="1685470" cy="356194"/>
          </a:xfrm>
          <a:prstGeom prst="rect">
            <a:avLst/>
          </a:prstGeom>
        </p:spPr>
        <p:txBody>
          <a:bodyPr lIns="0" tIns="0" rIns="0" bIns="0" rtlCol="0" anchor="t">
            <a:spAutoFit/>
          </a:bodyPr>
          <a:lstStyle/>
          <a:p>
            <a:pPr algn="ctr">
              <a:lnSpc>
                <a:spcPts val="2942"/>
              </a:lnSpc>
            </a:pPr>
            <a:r>
              <a:rPr lang="en-US" sz="2101" b="1">
                <a:solidFill>
                  <a:srgbClr val="4467BB"/>
                </a:solidFill>
                <a:latin typeface="Inter Bold"/>
                <a:ea typeface="Inter Bold"/>
                <a:cs typeface="Inter Bold"/>
                <a:sym typeface="Inter Bold"/>
              </a:rPr>
              <a:t>Progression</a:t>
            </a:r>
          </a:p>
        </p:txBody>
      </p:sp>
      <p:sp>
        <p:nvSpPr>
          <p:cNvPr id="48" name="TextBox 48"/>
          <p:cNvSpPr txBox="1"/>
          <p:nvPr/>
        </p:nvSpPr>
        <p:spPr>
          <a:xfrm>
            <a:off x="12384497" y="300361"/>
            <a:ext cx="5559580" cy="422234"/>
          </a:xfrm>
          <a:prstGeom prst="rect">
            <a:avLst/>
          </a:prstGeom>
        </p:spPr>
        <p:txBody>
          <a:bodyPr lIns="0" tIns="0" rIns="0" bIns="0" rtlCol="0" anchor="t">
            <a:spAutoFit/>
          </a:bodyPr>
          <a:lstStyle/>
          <a:p>
            <a:pPr algn="r">
              <a:lnSpc>
                <a:spcPts val="3502"/>
              </a:lnSpc>
            </a:pPr>
            <a:r>
              <a:rPr lang="en-US" sz="2501" b="1">
                <a:solidFill>
                  <a:srgbClr val="F9C266"/>
                </a:solidFill>
                <a:latin typeface="Inter Bold"/>
                <a:ea typeface="Inter Bold"/>
                <a:cs typeface="Inter Bold"/>
                <a:sym typeface="Inter Bold"/>
              </a:rPr>
              <a:t>supportprivilegefitness@gmail.com</a:t>
            </a:r>
          </a:p>
        </p:txBody>
      </p:sp>
      <p:grpSp>
        <p:nvGrpSpPr>
          <p:cNvPr id="49" name="Group 49"/>
          <p:cNvGrpSpPr/>
          <p:nvPr/>
        </p:nvGrpSpPr>
        <p:grpSpPr>
          <a:xfrm>
            <a:off x="3021096" y="1083569"/>
            <a:ext cx="630931" cy="630931"/>
            <a:chOff x="0" y="0"/>
            <a:chExt cx="673100" cy="673100"/>
          </a:xfrm>
        </p:grpSpPr>
        <p:sp>
          <p:nvSpPr>
            <p:cNvPr id="50" name="Freeform 50"/>
            <p:cNvSpPr/>
            <p:nvPr/>
          </p:nvSpPr>
          <p:spPr>
            <a:xfrm>
              <a:off x="0" y="0"/>
              <a:ext cx="673100" cy="673100"/>
            </a:xfrm>
            <a:custGeom>
              <a:avLst/>
              <a:gdLst/>
              <a:ahLst/>
              <a:cxnLst/>
              <a:rect l="l" t="t" r="r" b="b"/>
              <a:pathLst>
                <a:path w="673100" h="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F8C375"/>
            </a:solidFill>
          </p:spPr>
          <p:txBody>
            <a:bodyPr/>
            <a:lstStyle/>
            <a:p>
              <a:endParaRPr lang="ar-QA"/>
            </a:p>
          </p:txBody>
        </p:sp>
        <p:sp>
          <p:nvSpPr>
            <p:cNvPr id="51" name="TextBox 51"/>
            <p:cNvSpPr txBox="1"/>
            <p:nvPr/>
          </p:nvSpPr>
          <p:spPr>
            <a:xfrm>
              <a:off x="165100" y="127000"/>
              <a:ext cx="342900" cy="381000"/>
            </a:xfrm>
            <a:prstGeom prst="rect">
              <a:avLst/>
            </a:prstGeom>
          </p:spPr>
          <p:txBody>
            <a:bodyPr lIns="50800" tIns="50800" rIns="50800" bIns="50800" rtlCol="0" anchor="ctr"/>
            <a:lstStyle/>
            <a:p>
              <a:pPr algn="ctr">
                <a:lnSpc>
                  <a:spcPts val="2942"/>
                </a:lnSpc>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467BB"/>
        </a:solidFill>
        <a:effectLst/>
      </p:bgPr>
    </p:bg>
    <p:spTree>
      <p:nvGrpSpPr>
        <p:cNvPr id="1" name=""/>
        <p:cNvGrpSpPr/>
        <p:nvPr/>
      </p:nvGrpSpPr>
      <p:grpSpPr>
        <a:xfrm>
          <a:off x="0" y="0"/>
          <a:ext cx="0" cy="0"/>
          <a:chOff x="0" y="0"/>
          <a:chExt cx="0" cy="0"/>
        </a:xfrm>
      </p:grpSpPr>
      <p:grpSp>
        <p:nvGrpSpPr>
          <p:cNvPr id="2" name="Group 2"/>
          <p:cNvGrpSpPr/>
          <p:nvPr/>
        </p:nvGrpSpPr>
        <p:grpSpPr>
          <a:xfrm rot="3776959">
            <a:off x="201334" y="6203679"/>
            <a:ext cx="3491250" cy="349125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EC9F97">
                    <a:alpha val="100000"/>
                  </a:srgbClr>
                </a:gs>
                <a:gs pos="100000">
                  <a:srgbClr val="844162">
                    <a:alpha val="0"/>
                  </a:srgbClr>
                </a:gs>
              </a:gsLst>
              <a:lin ang="0"/>
            </a:gradFill>
          </p:spPr>
          <p:txBody>
            <a:bodyPr/>
            <a:lstStyle/>
            <a:p>
              <a:endParaRPr lang="ar-QA"/>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942"/>
                </a:lnSpc>
              </a:pPr>
              <a:endParaRPr/>
            </a:p>
          </p:txBody>
        </p:sp>
      </p:grpSp>
      <p:grpSp>
        <p:nvGrpSpPr>
          <p:cNvPr id="5" name="Group 5"/>
          <p:cNvGrpSpPr/>
          <p:nvPr/>
        </p:nvGrpSpPr>
        <p:grpSpPr>
          <a:xfrm>
            <a:off x="762000" y="511478"/>
            <a:ext cx="630931" cy="630931"/>
            <a:chOff x="0" y="0"/>
            <a:chExt cx="673100" cy="673100"/>
          </a:xfrm>
        </p:grpSpPr>
        <p:sp>
          <p:nvSpPr>
            <p:cNvPr id="6" name="Freeform 6"/>
            <p:cNvSpPr/>
            <p:nvPr/>
          </p:nvSpPr>
          <p:spPr>
            <a:xfrm>
              <a:off x="0" y="0"/>
              <a:ext cx="673100" cy="673100"/>
            </a:xfrm>
            <a:custGeom>
              <a:avLst/>
              <a:gdLst/>
              <a:ahLst/>
              <a:cxnLst/>
              <a:rect l="l" t="t" r="r" b="b"/>
              <a:pathLst>
                <a:path w="673100" h="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F8C375"/>
            </a:solidFill>
          </p:spPr>
          <p:txBody>
            <a:bodyPr/>
            <a:lstStyle/>
            <a:p>
              <a:endParaRPr lang="ar-QA"/>
            </a:p>
          </p:txBody>
        </p:sp>
        <p:sp>
          <p:nvSpPr>
            <p:cNvPr id="7" name="TextBox 7"/>
            <p:cNvSpPr txBox="1"/>
            <p:nvPr/>
          </p:nvSpPr>
          <p:spPr>
            <a:xfrm>
              <a:off x="165100" y="127000"/>
              <a:ext cx="342900" cy="381000"/>
            </a:xfrm>
            <a:prstGeom prst="rect">
              <a:avLst/>
            </a:prstGeom>
          </p:spPr>
          <p:txBody>
            <a:bodyPr lIns="50800" tIns="50800" rIns="50800" bIns="50800" rtlCol="0" anchor="ctr"/>
            <a:lstStyle/>
            <a:p>
              <a:pPr algn="ctr">
                <a:lnSpc>
                  <a:spcPts val="2942"/>
                </a:lnSpc>
              </a:pPr>
              <a:endParaRPr/>
            </a:p>
          </p:txBody>
        </p:sp>
      </p:grpSp>
      <p:sp>
        <p:nvSpPr>
          <p:cNvPr id="8" name="Freeform 8"/>
          <p:cNvSpPr/>
          <p:nvPr/>
        </p:nvSpPr>
        <p:spPr>
          <a:xfrm>
            <a:off x="5670408" y="1724159"/>
            <a:ext cx="7807002" cy="4093797"/>
          </a:xfrm>
          <a:custGeom>
            <a:avLst/>
            <a:gdLst/>
            <a:ahLst/>
            <a:cxnLst/>
            <a:rect l="l" t="t" r="r" b="b"/>
            <a:pathLst>
              <a:path w="7807002" h="4093797">
                <a:moveTo>
                  <a:pt x="0" y="0"/>
                </a:moveTo>
                <a:lnTo>
                  <a:pt x="7807002" y="0"/>
                </a:lnTo>
                <a:lnTo>
                  <a:pt x="7807002" y="4093797"/>
                </a:lnTo>
                <a:lnTo>
                  <a:pt x="0" y="4093797"/>
                </a:lnTo>
                <a:lnTo>
                  <a:pt x="0" y="0"/>
                </a:lnTo>
                <a:close/>
              </a:path>
            </a:pathLst>
          </a:custGeom>
          <a:blipFill>
            <a:blip r:embed="rId2"/>
            <a:stretch>
              <a:fillRect/>
            </a:stretch>
          </a:blipFill>
        </p:spPr>
        <p:txBody>
          <a:bodyPr/>
          <a:lstStyle/>
          <a:p>
            <a:endParaRPr lang="ar-QA"/>
          </a:p>
        </p:txBody>
      </p:sp>
      <p:sp>
        <p:nvSpPr>
          <p:cNvPr id="9" name="TextBox 9"/>
          <p:cNvSpPr txBox="1"/>
          <p:nvPr/>
        </p:nvSpPr>
        <p:spPr>
          <a:xfrm>
            <a:off x="1907269" y="370469"/>
            <a:ext cx="5066768" cy="1495425"/>
          </a:xfrm>
          <a:prstGeom prst="rect">
            <a:avLst/>
          </a:prstGeom>
        </p:spPr>
        <p:txBody>
          <a:bodyPr lIns="0" tIns="0" rIns="0" bIns="0" rtlCol="0" anchor="t">
            <a:spAutoFit/>
          </a:bodyPr>
          <a:lstStyle/>
          <a:p>
            <a:pPr algn="l">
              <a:lnSpc>
                <a:spcPts val="8400"/>
              </a:lnSpc>
            </a:pPr>
            <a:r>
              <a:rPr lang="en-US" sz="6000" b="1">
                <a:solidFill>
                  <a:srgbClr val="F9C266"/>
                </a:solidFill>
                <a:latin typeface="Hinnual Bold"/>
                <a:ea typeface="Hinnual Bold"/>
                <a:cs typeface="Hinnual Bold"/>
                <a:sym typeface="Hinnual Bold"/>
              </a:rPr>
              <a:t>Why Privilege </a:t>
            </a:r>
          </a:p>
        </p:txBody>
      </p:sp>
      <p:sp>
        <p:nvSpPr>
          <p:cNvPr id="10" name="TextBox 10"/>
          <p:cNvSpPr txBox="1"/>
          <p:nvPr/>
        </p:nvSpPr>
        <p:spPr>
          <a:xfrm>
            <a:off x="3581401" y="6100880"/>
            <a:ext cx="14132128" cy="2851422"/>
          </a:xfrm>
          <a:prstGeom prst="rect">
            <a:avLst/>
          </a:prstGeom>
        </p:spPr>
        <p:txBody>
          <a:bodyPr wrap="square" lIns="0" tIns="0" rIns="0" bIns="0" rtlCol="0" anchor="t">
            <a:spAutoFit/>
          </a:bodyPr>
          <a:lstStyle/>
          <a:p>
            <a:pPr algn="r">
              <a:lnSpc>
                <a:spcPts val="4465"/>
              </a:lnSpc>
            </a:pPr>
            <a:r>
              <a:rPr lang="en-US" sz="3600" dirty="0">
                <a:solidFill>
                  <a:srgbClr val="F9C266"/>
                </a:solidFill>
                <a:latin typeface="ADLaM Display" panose="02010000000000000000" pitchFamily="2" charset="0"/>
                <a:ea typeface="ADLaM Display" panose="02010000000000000000" pitchFamily="2" charset="0"/>
                <a:cs typeface="ADLaM Display" panose="02010000000000000000" pitchFamily="2" charset="0"/>
                <a:sym typeface="Helvetica World"/>
              </a:rPr>
              <a:t>While we considered other college project ideas such as a campus event management platform or a peer-tutoring app we ultimately chose Privilege. Our passion for sports gives us a stronger edge in this space, and we believe this concept offers far more potential for integrating unique features</a:t>
            </a:r>
            <a:r>
              <a:rPr lang="en-US" sz="3189" dirty="0">
                <a:solidFill>
                  <a:srgbClr val="F9C266"/>
                </a:solidFill>
                <a:latin typeface="Helvetica World"/>
                <a:ea typeface="Helvetica World"/>
                <a:cs typeface="Helvetica World"/>
                <a:sym typeface="Helvetica World"/>
              </a:rPr>
              <a:t>.</a:t>
            </a:r>
          </a:p>
        </p:txBody>
      </p:sp>
      <p:sp>
        <p:nvSpPr>
          <p:cNvPr id="11" name="TextBox 11"/>
          <p:cNvSpPr txBox="1"/>
          <p:nvPr/>
        </p:nvSpPr>
        <p:spPr>
          <a:xfrm>
            <a:off x="12384497" y="300361"/>
            <a:ext cx="5559580" cy="422234"/>
          </a:xfrm>
          <a:prstGeom prst="rect">
            <a:avLst/>
          </a:prstGeom>
        </p:spPr>
        <p:txBody>
          <a:bodyPr lIns="0" tIns="0" rIns="0" bIns="0" rtlCol="0" anchor="t">
            <a:spAutoFit/>
          </a:bodyPr>
          <a:lstStyle/>
          <a:p>
            <a:pPr algn="r">
              <a:lnSpc>
                <a:spcPts val="3502"/>
              </a:lnSpc>
            </a:pPr>
            <a:r>
              <a:rPr lang="en-US" sz="2501" b="1">
                <a:solidFill>
                  <a:srgbClr val="F9C266"/>
                </a:solidFill>
                <a:latin typeface="Inter Bold"/>
                <a:ea typeface="Inter Bold"/>
                <a:cs typeface="Inter Bold"/>
                <a:sym typeface="Inter Bold"/>
              </a:rPr>
              <a:t>supportprivilegefitness@gmail.com</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467BB"/>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F0EB50D-D2F8-7356-06C3-92B495D49FEE}"/>
              </a:ext>
            </a:extLst>
          </p:cNvPr>
          <p:cNvSpPr txBox="1"/>
          <p:nvPr/>
        </p:nvSpPr>
        <p:spPr>
          <a:xfrm>
            <a:off x="9172575" y="-4763"/>
            <a:ext cx="9144000" cy="435697"/>
          </a:xfrm>
          <a:prstGeom prst="rect">
            <a:avLst/>
          </a:prstGeom>
          <a:noFill/>
        </p:spPr>
        <p:txBody>
          <a:bodyPr wrap="square">
            <a:spAutoFit/>
          </a:bodyPr>
          <a:lstStyle/>
          <a:p>
            <a:pPr algn="r">
              <a:lnSpc>
                <a:spcPts val="2942"/>
              </a:lnSpc>
            </a:pPr>
            <a:r>
              <a:rPr lang="en-US" sz="2101" b="1" dirty="0">
                <a:solidFill>
                  <a:schemeClr val="bg2">
                    <a:lumMod val="25000"/>
                  </a:schemeClr>
                </a:solidFill>
                <a:latin typeface="Inter Bold"/>
                <a:ea typeface="Inter Bold"/>
                <a:cs typeface="Inter Bold"/>
                <a:sym typeface="Inter Bold"/>
              </a:rPr>
              <a:t>supportprivilegefitness@gmail.com</a:t>
            </a:r>
          </a:p>
        </p:txBody>
      </p:sp>
      <p:pic>
        <p:nvPicPr>
          <p:cNvPr id="4" name="Picture 3">
            <a:extLst>
              <a:ext uri="{FF2B5EF4-FFF2-40B4-BE49-F238E27FC236}">
                <a16:creationId xmlns:a16="http://schemas.microsoft.com/office/drawing/2014/main" id="{9E5B4862-BB77-DA93-B46C-95A1E2A11445}"/>
              </a:ext>
            </a:extLst>
          </p:cNvPr>
          <p:cNvPicPr>
            <a:picLocks noChangeAspect="1"/>
          </p:cNvPicPr>
          <p:nvPr/>
        </p:nvPicPr>
        <p:blipFill>
          <a:blip r:embed="rId2"/>
          <a:srcRect l="833"/>
          <a:stretch>
            <a:fillRect/>
          </a:stretch>
        </p:blipFill>
        <p:spPr>
          <a:xfrm>
            <a:off x="-32701" y="-4762"/>
            <a:ext cx="18320701" cy="1029176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467BB"/>
        </a:solidFill>
        <a:effectLst/>
      </p:bgPr>
    </p:bg>
    <p:spTree>
      <p:nvGrpSpPr>
        <p:cNvPr id="1" name=""/>
        <p:cNvGrpSpPr/>
        <p:nvPr/>
      </p:nvGrpSpPr>
      <p:grpSpPr>
        <a:xfrm>
          <a:off x="0" y="0"/>
          <a:ext cx="0" cy="0"/>
          <a:chOff x="0" y="0"/>
          <a:chExt cx="0" cy="0"/>
        </a:xfrm>
      </p:grpSpPr>
      <p:grpSp>
        <p:nvGrpSpPr>
          <p:cNvPr id="2" name="Group 2"/>
          <p:cNvGrpSpPr/>
          <p:nvPr/>
        </p:nvGrpSpPr>
        <p:grpSpPr>
          <a:xfrm rot="3643369">
            <a:off x="6696524" y="4123213"/>
            <a:ext cx="4349374" cy="434937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EC9F97">
                    <a:alpha val="100000"/>
                  </a:srgbClr>
                </a:gs>
                <a:gs pos="100000">
                  <a:srgbClr val="844162">
                    <a:alpha val="0"/>
                  </a:srgbClr>
                </a:gs>
              </a:gsLst>
              <a:lin ang="0"/>
            </a:gradFill>
          </p:spPr>
          <p:txBody>
            <a:bodyPr/>
            <a:lstStyle/>
            <a:p>
              <a:endParaRPr lang="ar-QA"/>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942"/>
                </a:lnSpc>
              </a:pPr>
              <a:endParaRPr/>
            </a:p>
          </p:txBody>
        </p:sp>
      </p:grpSp>
      <p:grpSp>
        <p:nvGrpSpPr>
          <p:cNvPr id="5" name="Group 5"/>
          <p:cNvGrpSpPr/>
          <p:nvPr/>
        </p:nvGrpSpPr>
        <p:grpSpPr>
          <a:xfrm>
            <a:off x="6235882" y="3581750"/>
            <a:ext cx="2406141" cy="2067777"/>
            <a:chOff x="0" y="0"/>
            <a:chExt cx="812800" cy="698500"/>
          </a:xfrm>
        </p:grpSpPr>
        <p:sp>
          <p:nvSpPr>
            <p:cNvPr id="6" name="Freeform 6"/>
            <p:cNvSpPr/>
            <p:nvPr/>
          </p:nvSpPr>
          <p:spPr>
            <a:xfrm>
              <a:off x="18226" y="0"/>
              <a:ext cx="776348" cy="698500"/>
            </a:xfrm>
            <a:custGeom>
              <a:avLst/>
              <a:gdLst/>
              <a:ahLst/>
              <a:cxnLst/>
              <a:rect l="l" t="t" r="r" b="b"/>
              <a:pathLst>
                <a:path w="776348" h="698500">
                  <a:moveTo>
                    <a:pt x="760594" y="407653"/>
                  </a:moveTo>
                  <a:lnTo>
                    <a:pt x="625354" y="640097"/>
                  </a:lnTo>
                  <a:cubicBezTo>
                    <a:pt x="604316" y="676256"/>
                    <a:pt x="565638" y="698500"/>
                    <a:pt x="523805" y="698500"/>
                  </a:cubicBezTo>
                  <a:lnTo>
                    <a:pt x="252543" y="698500"/>
                  </a:lnTo>
                  <a:cubicBezTo>
                    <a:pt x="210710" y="698500"/>
                    <a:pt x="172032" y="676256"/>
                    <a:pt x="150994" y="640097"/>
                  </a:cubicBezTo>
                  <a:lnTo>
                    <a:pt x="15754" y="407653"/>
                  </a:lnTo>
                  <a:cubicBezTo>
                    <a:pt x="-5251" y="371551"/>
                    <a:pt x="-5251" y="326949"/>
                    <a:pt x="15754" y="290847"/>
                  </a:cubicBezTo>
                  <a:lnTo>
                    <a:pt x="150994" y="58403"/>
                  </a:lnTo>
                  <a:cubicBezTo>
                    <a:pt x="172032" y="22244"/>
                    <a:pt x="210710" y="0"/>
                    <a:pt x="252543" y="0"/>
                  </a:cubicBezTo>
                  <a:lnTo>
                    <a:pt x="523805" y="0"/>
                  </a:lnTo>
                  <a:cubicBezTo>
                    <a:pt x="565638" y="0"/>
                    <a:pt x="604316" y="22244"/>
                    <a:pt x="625354" y="58403"/>
                  </a:cubicBezTo>
                  <a:lnTo>
                    <a:pt x="760594" y="290847"/>
                  </a:lnTo>
                  <a:cubicBezTo>
                    <a:pt x="781599" y="326949"/>
                    <a:pt x="781599" y="371551"/>
                    <a:pt x="760594" y="407653"/>
                  </a:cubicBezTo>
                  <a:close/>
                </a:path>
              </a:pathLst>
            </a:custGeom>
            <a:solidFill>
              <a:srgbClr val="F8C375"/>
            </a:solidFill>
          </p:spPr>
          <p:txBody>
            <a:bodyPr/>
            <a:lstStyle/>
            <a:p>
              <a:endParaRPr lang="ar-QA"/>
            </a:p>
          </p:txBody>
        </p:sp>
        <p:sp>
          <p:nvSpPr>
            <p:cNvPr id="7" name="TextBox 7"/>
            <p:cNvSpPr txBox="1"/>
            <p:nvPr/>
          </p:nvSpPr>
          <p:spPr>
            <a:xfrm>
              <a:off x="114300" y="-38100"/>
              <a:ext cx="584200" cy="736600"/>
            </a:xfrm>
            <a:prstGeom prst="rect">
              <a:avLst/>
            </a:prstGeom>
          </p:spPr>
          <p:txBody>
            <a:bodyPr lIns="50800" tIns="50800" rIns="50800" bIns="50800" rtlCol="0" anchor="ctr"/>
            <a:lstStyle/>
            <a:p>
              <a:pPr algn="ctr">
                <a:lnSpc>
                  <a:spcPts val="2942"/>
                </a:lnSpc>
              </a:pPr>
              <a:endParaRPr/>
            </a:p>
          </p:txBody>
        </p:sp>
      </p:grpSp>
      <p:grpSp>
        <p:nvGrpSpPr>
          <p:cNvPr id="8" name="Group 8"/>
          <p:cNvGrpSpPr/>
          <p:nvPr/>
        </p:nvGrpSpPr>
        <p:grpSpPr>
          <a:xfrm>
            <a:off x="9425470" y="3581750"/>
            <a:ext cx="2406141" cy="2067777"/>
            <a:chOff x="0" y="0"/>
            <a:chExt cx="812800" cy="698500"/>
          </a:xfrm>
        </p:grpSpPr>
        <p:sp>
          <p:nvSpPr>
            <p:cNvPr id="9" name="Freeform 9"/>
            <p:cNvSpPr/>
            <p:nvPr/>
          </p:nvSpPr>
          <p:spPr>
            <a:xfrm>
              <a:off x="18226" y="0"/>
              <a:ext cx="776348" cy="698500"/>
            </a:xfrm>
            <a:custGeom>
              <a:avLst/>
              <a:gdLst/>
              <a:ahLst/>
              <a:cxnLst/>
              <a:rect l="l" t="t" r="r" b="b"/>
              <a:pathLst>
                <a:path w="776348" h="698500">
                  <a:moveTo>
                    <a:pt x="760594" y="407653"/>
                  </a:moveTo>
                  <a:lnTo>
                    <a:pt x="625354" y="640097"/>
                  </a:lnTo>
                  <a:cubicBezTo>
                    <a:pt x="604316" y="676256"/>
                    <a:pt x="565638" y="698500"/>
                    <a:pt x="523805" y="698500"/>
                  </a:cubicBezTo>
                  <a:lnTo>
                    <a:pt x="252543" y="698500"/>
                  </a:lnTo>
                  <a:cubicBezTo>
                    <a:pt x="210710" y="698500"/>
                    <a:pt x="172032" y="676256"/>
                    <a:pt x="150994" y="640097"/>
                  </a:cubicBezTo>
                  <a:lnTo>
                    <a:pt x="15754" y="407653"/>
                  </a:lnTo>
                  <a:cubicBezTo>
                    <a:pt x="-5251" y="371551"/>
                    <a:pt x="-5251" y="326949"/>
                    <a:pt x="15754" y="290847"/>
                  </a:cubicBezTo>
                  <a:lnTo>
                    <a:pt x="150994" y="58403"/>
                  </a:lnTo>
                  <a:cubicBezTo>
                    <a:pt x="172032" y="22244"/>
                    <a:pt x="210710" y="0"/>
                    <a:pt x="252543" y="0"/>
                  </a:cubicBezTo>
                  <a:lnTo>
                    <a:pt x="523805" y="0"/>
                  </a:lnTo>
                  <a:cubicBezTo>
                    <a:pt x="565638" y="0"/>
                    <a:pt x="604316" y="22244"/>
                    <a:pt x="625354" y="58403"/>
                  </a:cubicBezTo>
                  <a:lnTo>
                    <a:pt x="760594" y="290847"/>
                  </a:lnTo>
                  <a:cubicBezTo>
                    <a:pt x="781599" y="326949"/>
                    <a:pt x="781599" y="371551"/>
                    <a:pt x="760594" y="407653"/>
                  </a:cubicBezTo>
                  <a:close/>
                </a:path>
              </a:pathLst>
            </a:custGeom>
            <a:solidFill>
              <a:srgbClr val="F8C375"/>
            </a:solidFill>
          </p:spPr>
          <p:txBody>
            <a:bodyPr/>
            <a:lstStyle/>
            <a:p>
              <a:endParaRPr lang="ar-QA"/>
            </a:p>
          </p:txBody>
        </p:sp>
        <p:sp>
          <p:nvSpPr>
            <p:cNvPr id="10" name="TextBox 10"/>
            <p:cNvSpPr txBox="1"/>
            <p:nvPr/>
          </p:nvSpPr>
          <p:spPr>
            <a:xfrm>
              <a:off x="114300" y="-85725"/>
              <a:ext cx="584200" cy="784225"/>
            </a:xfrm>
            <a:prstGeom prst="rect">
              <a:avLst/>
            </a:prstGeom>
          </p:spPr>
          <p:txBody>
            <a:bodyPr lIns="50800" tIns="50800" rIns="50800" bIns="50800" rtlCol="0" anchor="ctr"/>
            <a:lstStyle/>
            <a:p>
              <a:pPr algn="ctr">
                <a:lnSpc>
                  <a:spcPts val="6582"/>
                </a:lnSpc>
              </a:pPr>
              <a:r>
                <a:rPr lang="en-US" sz="4701" b="1">
                  <a:solidFill>
                    <a:srgbClr val="4467BB"/>
                  </a:solidFill>
                  <a:latin typeface="Inter Bold"/>
                  <a:ea typeface="Inter Bold"/>
                  <a:cs typeface="Inter Bold"/>
                  <a:sym typeface="Inter Bold"/>
                </a:rPr>
                <a:t>35%</a:t>
              </a:r>
            </a:p>
          </p:txBody>
        </p:sp>
      </p:grpSp>
      <p:grpSp>
        <p:nvGrpSpPr>
          <p:cNvPr id="11" name="Group 11"/>
          <p:cNvGrpSpPr/>
          <p:nvPr/>
        </p:nvGrpSpPr>
        <p:grpSpPr>
          <a:xfrm>
            <a:off x="6235882" y="6448114"/>
            <a:ext cx="2406141" cy="2067777"/>
            <a:chOff x="0" y="0"/>
            <a:chExt cx="812800" cy="698500"/>
          </a:xfrm>
        </p:grpSpPr>
        <p:sp>
          <p:nvSpPr>
            <p:cNvPr id="12" name="Freeform 12"/>
            <p:cNvSpPr/>
            <p:nvPr/>
          </p:nvSpPr>
          <p:spPr>
            <a:xfrm>
              <a:off x="18226" y="0"/>
              <a:ext cx="776348" cy="698500"/>
            </a:xfrm>
            <a:custGeom>
              <a:avLst/>
              <a:gdLst/>
              <a:ahLst/>
              <a:cxnLst/>
              <a:rect l="l" t="t" r="r" b="b"/>
              <a:pathLst>
                <a:path w="776348" h="698500">
                  <a:moveTo>
                    <a:pt x="760594" y="407653"/>
                  </a:moveTo>
                  <a:lnTo>
                    <a:pt x="625354" y="640097"/>
                  </a:lnTo>
                  <a:cubicBezTo>
                    <a:pt x="604316" y="676256"/>
                    <a:pt x="565638" y="698500"/>
                    <a:pt x="523805" y="698500"/>
                  </a:cubicBezTo>
                  <a:lnTo>
                    <a:pt x="252543" y="698500"/>
                  </a:lnTo>
                  <a:cubicBezTo>
                    <a:pt x="210710" y="698500"/>
                    <a:pt x="172032" y="676256"/>
                    <a:pt x="150994" y="640097"/>
                  </a:cubicBezTo>
                  <a:lnTo>
                    <a:pt x="15754" y="407653"/>
                  </a:lnTo>
                  <a:cubicBezTo>
                    <a:pt x="-5251" y="371551"/>
                    <a:pt x="-5251" y="326949"/>
                    <a:pt x="15754" y="290847"/>
                  </a:cubicBezTo>
                  <a:lnTo>
                    <a:pt x="150994" y="58403"/>
                  </a:lnTo>
                  <a:cubicBezTo>
                    <a:pt x="172032" y="22244"/>
                    <a:pt x="210710" y="0"/>
                    <a:pt x="252543" y="0"/>
                  </a:cubicBezTo>
                  <a:lnTo>
                    <a:pt x="523805" y="0"/>
                  </a:lnTo>
                  <a:cubicBezTo>
                    <a:pt x="565638" y="0"/>
                    <a:pt x="604316" y="22244"/>
                    <a:pt x="625354" y="58403"/>
                  </a:cubicBezTo>
                  <a:lnTo>
                    <a:pt x="760594" y="290847"/>
                  </a:lnTo>
                  <a:cubicBezTo>
                    <a:pt x="781599" y="326949"/>
                    <a:pt x="781599" y="371551"/>
                    <a:pt x="760594" y="407653"/>
                  </a:cubicBezTo>
                  <a:close/>
                </a:path>
              </a:pathLst>
            </a:custGeom>
            <a:solidFill>
              <a:srgbClr val="F8C375"/>
            </a:solidFill>
          </p:spPr>
          <p:txBody>
            <a:bodyPr/>
            <a:lstStyle/>
            <a:p>
              <a:endParaRPr lang="ar-QA"/>
            </a:p>
          </p:txBody>
        </p:sp>
        <p:sp>
          <p:nvSpPr>
            <p:cNvPr id="13" name="TextBox 13"/>
            <p:cNvSpPr txBox="1"/>
            <p:nvPr/>
          </p:nvSpPr>
          <p:spPr>
            <a:xfrm>
              <a:off x="114300" y="-38100"/>
              <a:ext cx="584200" cy="736600"/>
            </a:xfrm>
            <a:prstGeom prst="rect">
              <a:avLst/>
            </a:prstGeom>
          </p:spPr>
          <p:txBody>
            <a:bodyPr lIns="50800" tIns="50800" rIns="50800" bIns="50800" rtlCol="0" anchor="ctr"/>
            <a:lstStyle/>
            <a:p>
              <a:pPr algn="ctr">
                <a:lnSpc>
                  <a:spcPts val="2942"/>
                </a:lnSpc>
              </a:pPr>
              <a:endParaRPr/>
            </a:p>
          </p:txBody>
        </p:sp>
      </p:grpSp>
      <p:grpSp>
        <p:nvGrpSpPr>
          <p:cNvPr id="14" name="Group 14"/>
          <p:cNvGrpSpPr/>
          <p:nvPr/>
        </p:nvGrpSpPr>
        <p:grpSpPr>
          <a:xfrm>
            <a:off x="9425470" y="6448114"/>
            <a:ext cx="2406141" cy="2067777"/>
            <a:chOff x="0" y="0"/>
            <a:chExt cx="812800" cy="698500"/>
          </a:xfrm>
        </p:grpSpPr>
        <p:sp>
          <p:nvSpPr>
            <p:cNvPr id="15" name="Freeform 15"/>
            <p:cNvSpPr/>
            <p:nvPr/>
          </p:nvSpPr>
          <p:spPr>
            <a:xfrm>
              <a:off x="18226" y="0"/>
              <a:ext cx="776348" cy="698500"/>
            </a:xfrm>
            <a:custGeom>
              <a:avLst/>
              <a:gdLst/>
              <a:ahLst/>
              <a:cxnLst/>
              <a:rect l="l" t="t" r="r" b="b"/>
              <a:pathLst>
                <a:path w="776348" h="698500">
                  <a:moveTo>
                    <a:pt x="760594" y="407653"/>
                  </a:moveTo>
                  <a:lnTo>
                    <a:pt x="625354" y="640097"/>
                  </a:lnTo>
                  <a:cubicBezTo>
                    <a:pt x="604316" y="676256"/>
                    <a:pt x="565638" y="698500"/>
                    <a:pt x="523805" y="698500"/>
                  </a:cubicBezTo>
                  <a:lnTo>
                    <a:pt x="252543" y="698500"/>
                  </a:lnTo>
                  <a:cubicBezTo>
                    <a:pt x="210710" y="698500"/>
                    <a:pt x="172032" y="676256"/>
                    <a:pt x="150994" y="640097"/>
                  </a:cubicBezTo>
                  <a:lnTo>
                    <a:pt x="15754" y="407653"/>
                  </a:lnTo>
                  <a:cubicBezTo>
                    <a:pt x="-5251" y="371551"/>
                    <a:pt x="-5251" y="326949"/>
                    <a:pt x="15754" y="290847"/>
                  </a:cubicBezTo>
                  <a:lnTo>
                    <a:pt x="150994" y="58403"/>
                  </a:lnTo>
                  <a:cubicBezTo>
                    <a:pt x="172032" y="22244"/>
                    <a:pt x="210710" y="0"/>
                    <a:pt x="252543" y="0"/>
                  </a:cubicBezTo>
                  <a:lnTo>
                    <a:pt x="523805" y="0"/>
                  </a:lnTo>
                  <a:cubicBezTo>
                    <a:pt x="565638" y="0"/>
                    <a:pt x="604316" y="22244"/>
                    <a:pt x="625354" y="58403"/>
                  </a:cubicBezTo>
                  <a:lnTo>
                    <a:pt x="760594" y="290847"/>
                  </a:lnTo>
                  <a:cubicBezTo>
                    <a:pt x="781599" y="326949"/>
                    <a:pt x="781599" y="371551"/>
                    <a:pt x="760594" y="407653"/>
                  </a:cubicBezTo>
                  <a:close/>
                </a:path>
              </a:pathLst>
            </a:custGeom>
            <a:solidFill>
              <a:srgbClr val="F8C375"/>
            </a:solidFill>
          </p:spPr>
          <p:txBody>
            <a:bodyPr/>
            <a:lstStyle/>
            <a:p>
              <a:endParaRPr lang="ar-QA"/>
            </a:p>
          </p:txBody>
        </p:sp>
        <p:sp>
          <p:nvSpPr>
            <p:cNvPr id="16" name="TextBox 16"/>
            <p:cNvSpPr txBox="1"/>
            <p:nvPr/>
          </p:nvSpPr>
          <p:spPr>
            <a:xfrm>
              <a:off x="114300" y="-85725"/>
              <a:ext cx="584200" cy="784225"/>
            </a:xfrm>
            <a:prstGeom prst="rect">
              <a:avLst/>
            </a:prstGeom>
          </p:spPr>
          <p:txBody>
            <a:bodyPr lIns="50800" tIns="50800" rIns="50800" bIns="50800" rtlCol="0" anchor="ctr"/>
            <a:lstStyle/>
            <a:p>
              <a:pPr algn="ctr">
                <a:lnSpc>
                  <a:spcPts val="6481"/>
                </a:lnSpc>
              </a:pPr>
              <a:r>
                <a:rPr lang="en-US" sz="4629" b="1">
                  <a:solidFill>
                    <a:srgbClr val="4467BB"/>
                  </a:solidFill>
                  <a:latin typeface="Inter Bold"/>
                  <a:ea typeface="Inter Bold"/>
                  <a:cs typeface="Inter Bold"/>
                  <a:sym typeface="Inter Bold"/>
                </a:rPr>
                <a:t>100%</a:t>
              </a:r>
            </a:p>
          </p:txBody>
        </p:sp>
      </p:grpSp>
      <p:grpSp>
        <p:nvGrpSpPr>
          <p:cNvPr id="17" name="Group 17"/>
          <p:cNvGrpSpPr/>
          <p:nvPr/>
        </p:nvGrpSpPr>
        <p:grpSpPr>
          <a:xfrm>
            <a:off x="8642023" y="5649527"/>
            <a:ext cx="630931" cy="630931"/>
            <a:chOff x="0" y="0"/>
            <a:chExt cx="673100" cy="673100"/>
          </a:xfrm>
        </p:grpSpPr>
        <p:sp>
          <p:nvSpPr>
            <p:cNvPr id="18" name="Freeform 18"/>
            <p:cNvSpPr/>
            <p:nvPr/>
          </p:nvSpPr>
          <p:spPr>
            <a:xfrm>
              <a:off x="0" y="0"/>
              <a:ext cx="673100" cy="673100"/>
            </a:xfrm>
            <a:custGeom>
              <a:avLst/>
              <a:gdLst/>
              <a:ahLst/>
              <a:cxnLst/>
              <a:rect l="l" t="t" r="r" b="b"/>
              <a:pathLst>
                <a:path w="673100" h="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F8C375"/>
            </a:solidFill>
          </p:spPr>
          <p:txBody>
            <a:bodyPr/>
            <a:lstStyle/>
            <a:p>
              <a:endParaRPr lang="ar-QA"/>
            </a:p>
          </p:txBody>
        </p:sp>
        <p:sp>
          <p:nvSpPr>
            <p:cNvPr id="19" name="TextBox 19"/>
            <p:cNvSpPr txBox="1"/>
            <p:nvPr/>
          </p:nvSpPr>
          <p:spPr>
            <a:xfrm>
              <a:off x="165100" y="127000"/>
              <a:ext cx="342900" cy="381000"/>
            </a:xfrm>
            <a:prstGeom prst="rect">
              <a:avLst/>
            </a:prstGeom>
          </p:spPr>
          <p:txBody>
            <a:bodyPr lIns="50800" tIns="50800" rIns="50800" bIns="50800" rtlCol="0" anchor="ctr"/>
            <a:lstStyle/>
            <a:p>
              <a:pPr algn="ctr">
                <a:lnSpc>
                  <a:spcPts val="2942"/>
                </a:lnSpc>
              </a:pPr>
              <a:endParaRPr/>
            </a:p>
          </p:txBody>
        </p:sp>
      </p:grpSp>
      <p:sp>
        <p:nvSpPr>
          <p:cNvPr id="20" name="TextBox 20"/>
          <p:cNvSpPr txBox="1"/>
          <p:nvPr/>
        </p:nvSpPr>
        <p:spPr>
          <a:xfrm>
            <a:off x="3762401" y="1098560"/>
            <a:ext cx="10763198" cy="1606550"/>
          </a:xfrm>
          <a:prstGeom prst="rect">
            <a:avLst/>
          </a:prstGeom>
        </p:spPr>
        <p:txBody>
          <a:bodyPr lIns="0" tIns="0" rIns="0" bIns="0" rtlCol="0" anchor="t">
            <a:spAutoFit/>
          </a:bodyPr>
          <a:lstStyle/>
          <a:p>
            <a:pPr algn="ctr">
              <a:lnSpc>
                <a:spcPts val="9100"/>
              </a:lnSpc>
            </a:pPr>
            <a:r>
              <a:rPr lang="en-US" sz="6500" b="1" dirty="0">
                <a:solidFill>
                  <a:srgbClr val="FFFFFF"/>
                </a:solidFill>
                <a:latin typeface="Hinnual Bold"/>
                <a:ea typeface="Hinnual Bold"/>
                <a:cs typeface="Hinnual Bold"/>
                <a:sym typeface="Hinnual Bold"/>
              </a:rPr>
              <a:t>Get Ready for Offers ! </a:t>
            </a:r>
          </a:p>
        </p:txBody>
      </p:sp>
      <p:sp>
        <p:nvSpPr>
          <p:cNvPr id="21" name="TextBox 21"/>
          <p:cNvSpPr txBox="1"/>
          <p:nvPr/>
        </p:nvSpPr>
        <p:spPr>
          <a:xfrm>
            <a:off x="3702601" y="6410014"/>
            <a:ext cx="2208211" cy="347498"/>
          </a:xfrm>
          <a:prstGeom prst="rect">
            <a:avLst/>
          </a:prstGeom>
        </p:spPr>
        <p:txBody>
          <a:bodyPr lIns="0" tIns="0" rIns="0" bIns="0" rtlCol="0" anchor="t">
            <a:spAutoFit/>
          </a:bodyPr>
          <a:lstStyle/>
          <a:p>
            <a:pPr algn="r">
              <a:lnSpc>
                <a:spcPts val="2896"/>
              </a:lnSpc>
            </a:pPr>
            <a:r>
              <a:rPr lang="en-US" sz="2068" b="1">
                <a:solidFill>
                  <a:srgbClr val="F9C266"/>
                </a:solidFill>
                <a:latin typeface="Inter Bold"/>
                <a:ea typeface="Inter Bold"/>
                <a:cs typeface="Inter Bold"/>
                <a:sym typeface="Inter Bold"/>
              </a:rPr>
              <a:t>180 days streakl</a:t>
            </a:r>
          </a:p>
        </p:txBody>
      </p:sp>
      <p:sp>
        <p:nvSpPr>
          <p:cNvPr id="22" name="TextBox 22"/>
          <p:cNvSpPr txBox="1"/>
          <p:nvPr/>
        </p:nvSpPr>
        <p:spPr>
          <a:xfrm>
            <a:off x="12319392" y="3714382"/>
            <a:ext cx="2457355" cy="347498"/>
          </a:xfrm>
          <a:prstGeom prst="rect">
            <a:avLst/>
          </a:prstGeom>
        </p:spPr>
        <p:txBody>
          <a:bodyPr lIns="0" tIns="0" rIns="0" bIns="0" rtlCol="0" anchor="t">
            <a:spAutoFit/>
          </a:bodyPr>
          <a:lstStyle/>
          <a:p>
            <a:pPr algn="l">
              <a:lnSpc>
                <a:spcPts val="2896"/>
              </a:lnSpc>
            </a:pPr>
            <a:r>
              <a:rPr lang="en-US" sz="2068" b="1">
                <a:solidFill>
                  <a:srgbClr val="F9C266"/>
                </a:solidFill>
                <a:latin typeface="Inter Bold"/>
                <a:ea typeface="Inter Bold"/>
                <a:cs typeface="Inter Bold"/>
                <a:sym typeface="Inter Bold"/>
              </a:rPr>
              <a:t>Intermidiate level</a:t>
            </a:r>
          </a:p>
        </p:txBody>
      </p:sp>
      <p:sp>
        <p:nvSpPr>
          <p:cNvPr id="23" name="TextBox 23"/>
          <p:cNvSpPr txBox="1"/>
          <p:nvPr/>
        </p:nvSpPr>
        <p:spPr>
          <a:xfrm>
            <a:off x="12319392" y="6410014"/>
            <a:ext cx="2004622" cy="347498"/>
          </a:xfrm>
          <a:prstGeom prst="rect">
            <a:avLst/>
          </a:prstGeom>
        </p:spPr>
        <p:txBody>
          <a:bodyPr lIns="0" tIns="0" rIns="0" bIns="0" rtlCol="0" anchor="t">
            <a:spAutoFit/>
          </a:bodyPr>
          <a:lstStyle/>
          <a:p>
            <a:pPr algn="l">
              <a:lnSpc>
                <a:spcPts val="2896"/>
              </a:lnSpc>
            </a:pPr>
            <a:r>
              <a:rPr lang="en-US" sz="2068" b="1">
                <a:solidFill>
                  <a:srgbClr val="F9C266"/>
                </a:solidFill>
                <a:latin typeface="Inter Bold"/>
                <a:ea typeface="Inter Bold"/>
                <a:cs typeface="Inter Bold"/>
                <a:sym typeface="Inter Bold"/>
              </a:rPr>
              <a:t>Pro level</a:t>
            </a:r>
          </a:p>
        </p:txBody>
      </p:sp>
      <p:sp>
        <p:nvSpPr>
          <p:cNvPr id="24" name="TextBox 24"/>
          <p:cNvSpPr txBox="1"/>
          <p:nvPr/>
        </p:nvSpPr>
        <p:spPr>
          <a:xfrm>
            <a:off x="808268" y="4357156"/>
            <a:ext cx="5141223" cy="532202"/>
          </a:xfrm>
          <a:prstGeom prst="rect">
            <a:avLst/>
          </a:prstGeom>
        </p:spPr>
        <p:txBody>
          <a:bodyPr lIns="0" tIns="0" rIns="0" bIns="0" rtlCol="0" anchor="t">
            <a:spAutoFit/>
          </a:bodyPr>
          <a:lstStyle/>
          <a:p>
            <a:pPr algn="r">
              <a:lnSpc>
                <a:spcPts val="2166"/>
              </a:lnSpc>
              <a:spcBef>
                <a:spcPct val="0"/>
              </a:spcBef>
            </a:pPr>
            <a:r>
              <a:rPr lang="en-US" sz="1547">
                <a:solidFill>
                  <a:srgbClr val="FFFFFF"/>
                </a:solidFill>
                <a:latin typeface="Inter"/>
                <a:ea typeface="Inter"/>
                <a:cs typeface="Inter"/>
                <a:sym typeface="Inter"/>
              </a:rPr>
              <a:t>Train and stay disciplined for 90 days in a row to get 25% off on privilege premium version for 1 month</a:t>
            </a:r>
          </a:p>
        </p:txBody>
      </p:sp>
      <p:sp>
        <p:nvSpPr>
          <p:cNvPr id="25" name="TextBox 25"/>
          <p:cNvSpPr txBox="1"/>
          <p:nvPr/>
        </p:nvSpPr>
        <p:spPr>
          <a:xfrm>
            <a:off x="12365011" y="4357156"/>
            <a:ext cx="4471508" cy="798902"/>
          </a:xfrm>
          <a:prstGeom prst="rect">
            <a:avLst/>
          </a:prstGeom>
        </p:spPr>
        <p:txBody>
          <a:bodyPr lIns="0" tIns="0" rIns="0" bIns="0" rtlCol="0" anchor="t">
            <a:spAutoFit/>
          </a:bodyPr>
          <a:lstStyle/>
          <a:p>
            <a:pPr algn="l">
              <a:lnSpc>
                <a:spcPts val="2166"/>
              </a:lnSpc>
              <a:spcBef>
                <a:spcPct val="0"/>
              </a:spcBef>
            </a:pPr>
            <a:r>
              <a:rPr lang="en-US" sz="1547">
                <a:solidFill>
                  <a:srgbClr val="FFFFFF"/>
                </a:solidFill>
                <a:latin typeface="Inter"/>
                <a:ea typeface="Inter"/>
                <a:cs typeface="Inter"/>
                <a:sym typeface="Inter"/>
              </a:rPr>
              <a:t>Train and stay disciplined until you reach intermidiate user level to get 35% off on privilege premium version for 1 month</a:t>
            </a:r>
          </a:p>
        </p:txBody>
      </p:sp>
      <p:sp>
        <p:nvSpPr>
          <p:cNvPr id="26" name="TextBox 26"/>
          <p:cNvSpPr txBox="1"/>
          <p:nvPr/>
        </p:nvSpPr>
        <p:spPr>
          <a:xfrm>
            <a:off x="846948" y="7053339"/>
            <a:ext cx="5063864" cy="532202"/>
          </a:xfrm>
          <a:prstGeom prst="rect">
            <a:avLst/>
          </a:prstGeom>
        </p:spPr>
        <p:txBody>
          <a:bodyPr lIns="0" tIns="0" rIns="0" bIns="0" rtlCol="0" anchor="t">
            <a:spAutoFit/>
          </a:bodyPr>
          <a:lstStyle/>
          <a:p>
            <a:pPr algn="r">
              <a:lnSpc>
                <a:spcPts val="2166"/>
              </a:lnSpc>
              <a:spcBef>
                <a:spcPct val="0"/>
              </a:spcBef>
            </a:pPr>
            <a:r>
              <a:rPr lang="en-US" sz="1547">
                <a:solidFill>
                  <a:srgbClr val="FFFFFF"/>
                </a:solidFill>
                <a:latin typeface="Inter"/>
                <a:ea typeface="Inter"/>
                <a:cs typeface="Inter"/>
                <a:sym typeface="Inter"/>
              </a:rPr>
              <a:t>Train and stay disciplined for 180 days in a row to get 50% off on privilege premium version for 1 month</a:t>
            </a:r>
          </a:p>
        </p:txBody>
      </p:sp>
      <p:sp>
        <p:nvSpPr>
          <p:cNvPr id="27" name="TextBox 27"/>
          <p:cNvSpPr txBox="1"/>
          <p:nvPr/>
        </p:nvSpPr>
        <p:spPr>
          <a:xfrm>
            <a:off x="12319392" y="7053339"/>
            <a:ext cx="4471508" cy="798902"/>
          </a:xfrm>
          <a:prstGeom prst="rect">
            <a:avLst/>
          </a:prstGeom>
        </p:spPr>
        <p:txBody>
          <a:bodyPr lIns="0" tIns="0" rIns="0" bIns="0" rtlCol="0" anchor="t">
            <a:spAutoFit/>
          </a:bodyPr>
          <a:lstStyle/>
          <a:p>
            <a:pPr algn="l">
              <a:lnSpc>
                <a:spcPts val="2166"/>
              </a:lnSpc>
              <a:spcBef>
                <a:spcPct val="0"/>
              </a:spcBef>
            </a:pPr>
            <a:r>
              <a:rPr lang="en-US" sz="1547">
                <a:solidFill>
                  <a:srgbClr val="FFFFFF"/>
                </a:solidFill>
                <a:latin typeface="Inter"/>
                <a:ea typeface="Inter"/>
                <a:cs typeface="Inter"/>
                <a:sym typeface="Inter"/>
              </a:rPr>
              <a:t>Train and stay disciplined until you reach pro user level to get 100% off on privilege premium version for one month</a:t>
            </a:r>
          </a:p>
        </p:txBody>
      </p:sp>
      <p:sp>
        <p:nvSpPr>
          <p:cNvPr id="28" name="TextBox 28"/>
          <p:cNvSpPr txBox="1"/>
          <p:nvPr/>
        </p:nvSpPr>
        <p:spPr>
          <a:xfrm>
            <a:off x="6813551" y="4149512"/>
            <a:ext cx="1351411" cy="787335"/>
          </a:xfrm>
          <a:prstGeom prst="rect">
            <a:avLst/>
          </a:prstGeom>
        </p:spPr>
        <p:txBody>
          <a:bodyPr lIns="0" tIns="0" rIns="0" bIns="0" rtlCol="0" anchor="t">
            <a:spAutoFit/>
          </a:bodyPr>
          <a:lstStyle/>
          <a:p>
            <a:pPr algn="ctr">
              <a:lnSpc>
                <a:spcPts val="6478"/>
              </a:lnSpc>
            </a:pPr>
            <a:r>
              <a:rPr lang="en-US" sz="4627" b="1">
                <a:solidFill>
                  <a:srgbClr val="4467BB"/>
                </a:solidFill>
                <a:latin typeface="Inter Bold"/>
                <a:ea typeface="Inter Bold"/>
                <a:cs typeface="Inter Bold"/>
                <a:sym typeface="Inter Bold"/>
              </a:rPr>
              <a:t>25%</a:t>
            </a:r>
          </a:p>
        </p:txBody>
      </p:sp>
      <p:sp>
        <p:nvSpPr>
          <p:cNvPr id="29" name="TextBox 29"/>
          <p:cNvSpPr txBox="1"/>
          <p:nvPr/>
        </p:nvSpPr>
        <p:spPr>
          <a:xfrm>
            <a:off x="6562032" y="7015877"/>
            <a:ext cx="1602930" cy="787335"/>
          </a:xfrm>
          <a:prstGeom prst="rect">
            <a:avLst/>
          </a:prstGeom>
        </p:spPr>
        <p:txBody>
          <a:bodyPr lIns="0" tIns="0" rIns="0" bIns="0" rtlCol="0" anchor="t">
            <a:spAutoFit/>
          </a:bodyPr>
          <a:lstStyle/>
          <a:p>
            <a:pPr algn="ctr">
              <a:lnSpc>
                <a:spcPts val="6478"/>
              </a:lnSpc>
            </a:pPr>
            <a:r>
              <a:rPr lang="en-US" sz="4627" b="1">
                <a:solidFill>
                  <a:srgbClr val="4467BB"/>
                </a:solidFill>
                <a:latin typeface="Inter Bold"/>
                <a:ea typeface="Inter Bold"/>
                <a:cs typeface="Inter Bold"/>
                <a:sym typeface="Inter Bold"/>
              </a:rPr>
              <a:t>50%</a:t>
            </a:r>
          </a:p>
        </p:txBody>
      </p:sp>
      <p:sp>
        <p:nvSpPr>
          <p:cNvPr id="30" name="TextBox 30"/>
          <p:cNvSpPr txBox="1"/>
          <p:nvPr/>
        </p:nvSpPr>
        <p:spPr>
          <a:xfrm>
            <a:off x="12583503" y="605897"/>
            <a:ext cx="4872279" cy="727669"/>
          </a:xfrm>
          <a:prstGeom prst="rect">
            <a:avLst/>
          </a:prstGeom>
        </p:spPr>
        <p:txBody>
          <a:bodyPr lIns="0" tIns="0" rIns="0" bIns="0" rtlCol="0" anchor="t">
            <a:spAutoFit/>
          </a:bodyPr>
          <a:lstStyle/>
          <a:p>
            <a:pPr algn="r">
              <a:lnSpc>
                <a:spcPts val="2942"/>
              </a:lnSpc>
            </a:pPr>
            <a:r>
              <a:rPr lang="en-US" sz="2101" b="1" dirty="0">
                <a:solidFill>
                  <a:srgbClr val="F9C266"/>
                </a:solidFill>
                <a:latin typeface="Inter Bold"/>
                <a:ea typeface="Inter Bold"/>
                <a:cs typeface="Inter Bold"/>
                <a:sym typeface="Inter Bold"/>
              </a:rPr>
              <a:t>supportprivilegefitness@gmail.com</a:t>
            </a:r>
          </a:p>
          <a:p>
            <a:pPr algn="r">
              <a:lnSpc>
                <a:spcPts val="2942"/>
              </a:lnSpc>
            </a:pPr>
            <a:endParaRPr lang="en-US" sz="2101" b="1" dirty="0">
              <a:solidFill>
                <a:srgbClr val="F9C266"/>
              </a:solidFill>
              <a:latin typeface="Inter Bold"/>
              <a:ea typeface="Inter Bold"/>
              <a:cs typeface="Inter Bold"/>
              <a:sym typeface="Inter Bold"/>
            </a:endParaRPr>
          </a:p>
        </p:txBody>
      </p:sp>
      <p:sp>
        <p:nvSpPr>
          <p:cNvPr id="31" name="TextBox 31"/>
          <p:cNvSpPr txBox="1"/>
          <p:nvPr/>
        </p:nvSpPr>
        <p:spPr>
          <a:xfrm>
            <a:off x="3702601" y="3714382"/>
            <a:ext cx="2208211" cy="347498"/>
          </a:xfrm>
          <a:prstGeom prst="rect">
            <a:avLst/>
          </a:prstGeom>
        </p:spPr>
        <p:txBody>
          <a:bodyPr lIns="0" tIns="0" rIns="0" bIns="0" rtlCol="0" anchor="t">
            <a:spAutoFit/>
          </a:bodyPr>
          <a:lstStyle/>
          <a:p>
            <a:pPr algn="r">
              <a:lnSpc>
                <a:spcPts val="2896"/>
              </a:lnSpc>
            </a:pPr>
            <a:r>
              <a:rPr lang="en-US" sz="2068" b="1">
                <a:solidFill>
                  <a:srgbClr val="F9C266"/>
                </a:solidFill>
                <a:latin typeface="Inter Bold"/>
                <a:ea typeface="Inter Bold"/>
                <a:cs typeface="Inter Bold"/>
                <a:sym typeface="Inter Bold"/>
              </a:rPr>
              <a:t>90 days streakl</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467BB"/>
        </a:solidFill>
        <a:effectLst/>
      </p:bgPr>
    </p:bg>
    <p:spTree>
      <p:nvGrpSpPr>
        <p:cNvPr id="1" name=""/>
        <p:cNvGrpSpPr/>
        <p:nvPr/>
      </p:nvGrpSpPr>
      <p:grpSpPr>
        <a:xfrm>
          <a:off x="0" y="0"/>
          <a:ext cx="0" cy="0"/>
          <a:chOff x="0" y="0"/>
          <a:chExt cx="0" cy="0"/>
        </a:xfrm>
      </p:grpSpPr>
      <p:sp>
        <p:nvSpPr>
          <p:cNvPr id="2" name="Freeform 2"/>
          <p:cNvSpPr/>
          <p:nvPr/>
        </p:nvSpPr>
        <p:spPr>
          <a:xfrm>
            <a:off x="38061" y="56979"/>
            <a:ext cx="18211878" cy="10173041"/>
          </a:xfrm>
          <a:custGeom>
            <a:avLst/>
            <a:gdLst/>
            <a:ahLst/>
            <a:cxnLst/>
            <a:rect l="l" t="t" r="r" b="b"/>
            <a:pathLst>
              <a:path w="18211878" h="10173041">
                <a:moveTo>
                  <a:pt x="0" y="0"/>
                </a:moveTo>
                <a:lnTo>
                  <a:pt x="18211878" y="0"/>
                </a:lnTo>
                <a:lnTo>
                  <a:pt x="18211878" y="10173041"/>
                </a:lnTo>
                <a:lnTo>
                  <a:pt x="0" y="10173041"/>
                </a:lnTo>
                <a:lnTo>
                  <a:pt x="0" y="0"/>
                </a:lnTo>
                <a:close/>
              </a:path>
            </a:pathLst>
          </a:custGeom>
          <a:blipFill>
            <a:blip r:embed="rId2"/>
            <a:stretch>
              <a:fillRect/>
            </a:stretch>
          </a:blipFill>
        </p:spPr>
        <p:txBody>
          <a:bodyPr/>
          <a:lstStyle/>
          <a:p>
            <a:endParaRPr lang="ar-QA"/>
          </a:p>
        </p:txBody>
      </p:sp>
      <p:sp>
        <p:nvSpPr>
          <p:cNvPr id="4" name="TextBox 3">
            <a:extLst>
              <a:ext uri="{FF2B5EF4-FFF2-40B4-BE49-F238E27FC236}">
                <a16:creationId xmlns:a16="http://schemas.microsoft.com/office/drawing/2014/main" id="{6004CD35-3BB1-D968-F3E7-849F3F5E57FF}"/>
              </a:ext>
            </a:extLst>
          </p:cNvPr>
          <p:cNvSpPr txBox="1"/>
          <p:nvPr/>
        </p:nvSpPr>
        <p:spPr>
          <a:xfrm>
            <a:off x="8915400" y="116340"/>
            <a:ext cx="9144000" cy="435697"/>
          </a:xfrm>
          <a:prstGeom prst="rect">
            <a:avLst/>
          </a:prstGeom>
          <a:noFill/>
        </p:spPr>
        <p:txBody>
          <a:bodyPr wrap="square">
            <a:spAutoFit/>
          </a:bodyPr>
          <a:lstStyle/>
          <a:p>
            <a:pPr algn="r">
              <a:lnSpc>
                <a:spcPts val="2942"/>
              </a:lnSpc>
            </a:pPr>
            <a:r>
              <a:rPr lang="en-US" sz="2101" b="1" dirty="0">
                <a:solidFill>
                  <a:schemeClr val="bg2">
                    <a:lumMod val="25000"/>
                  </a:schemeClr>
                </a:solidFill>
                <a:latin typeface="Inter Bold"/>
                <a:ea typeface="Inter Bold"/>
                <a:cs typeface="Inter Bold"/>
                <a:sym typeface="Inter Bold"/>
              </a:rPr>
              <a:t>supportprivilegefitness@gmail.com</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467BB"/>
        </a:solidFill>
        <a:effectLst/>
      </p:bgPr>
    </p:bg>
    <p:spTree>
      <p:nvGrpSpPr>
        <p:cNvPr id="1" name=""/>
        <p:cNvGrpSpPr/>
        <p:nvPr/>
      </p:nvGrpSpPr>
      <p:grpSpPr>
        <a:xfrm>
          <a:off x="0" y="0"/>
          <a:ext cx="0" cy="0"/>
          <a:chOff x="0" y="0"/>
          <a:chExt cx="0" cy="0"/>
        </a:xfrm>
      </p:grpSpPr>
      <p:grpSp>
        <p:nvGrpSpPr>
          <p:cNvPr id="2" name="Group 2"/>
          <p:cNvGrpSpPr/>
          <p:nvPr/>
        </p:nvGrpSpPr>
        <p:grpSpPr>
          <a:xfrm rot="3643369">
            <a:off x="14976862" y="3195325"/>
            <a:ext cx="4839320" cy="483932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EC9F97">
                    <a:alpha val="100000"/>
                  </a:srgbClr>
                </a:gs>
                <a:gs pos="100000">
                  <a:srgbClr val="844162">
                    <a:alpha val="0"/>
                  </a:srgbClr>
                </a:gs>
              </a:gsLst>
              <a:lin ang="0"/>
            </a:gradFill>
          </p:spPr>
          <p:txBody>
            <a:bodyPr/>
            <a:lstStyle/>
            <a:p>
              <a:endParaRPr lang="ar-QA"/>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942"/>
                </a:lnSpc>
              </a:pPr>
              <a:endParaRPr/>
            </a:p>
          </p:txBody>
        </p:sp>
      </p:grpSp>
      <p:grpSp>
        <p:nvGrpSpPr>
          <p:cNvPr id="5" name="Group 5"/>
          <p:cNvGrpSpPr/>
          <p:nvPr/>
        </p:nvGrpSpPr>
        <p:grpSpPr>
          <a:xfrm>
            <a:off x="8949114" y="6657288"/>
            <a:ext cx="5984804" cy="2943912"/>
            <a:chOff x="0" y="0"/>
            <a:chExt cx="1576245" cy="775351"/>
          </a:xfrm>
        </p:grpSpPr>
        <p:sp>
          <p:nvSpPr>
            <p:cNvPr id="6" name="Freeform 6"/>
            <p:cNvSpPr/>
            <p:nvPr/>
          </p:nvSpPr>
          <p:spPr>
            <a:xfrm>
              <a:off x="0" y="0"/>
              <a:ext cx="1576245" cy="775351"/>
            </a:xfrm>
            <a:custGeom>
              <a:avLst/>
              <a:gdLst/>
              <a:ahLst/>
              <a:cxnLst/>
              <a:rect l="l" t="t" r="r" b="b"/>
              <a:pathLst>
                <a:path w="1576245" h="775351">
                  <a:moveTo>
                    <a:pt x="37514" y="0"/>
                  </a:moveTo>
                  <a:lnTo>
                    <a:pt x="1538730" y="0"/>
                  </a:lnTo>
                  <a:cubicBezTo>
                    <a:pt x="1559449" y="0"/>
                    <a:pt x="1576245" y="16796"/>
                    <a:pt x="1576245" y="37514"/>
                  </a:cubicBezTo>
                  <a:lnTo>
                    <a:pt x="1576245" y="737837"/>
                  </a:lnTo>
                  <a:cubicBezTo>
                    <a:pt x="1576245" y="747786"/>
                    <a:pt x="1572292" y="757328"/>
                    <a:pt x="1565257" y="764364"/>
                  </a:cubicBezTo>
                  <a:cubicBezTo>
                    <a:pt x="1558222" y="771399"/>
                    <a:pt x="1548680" y="775351"/>
                    <a:pt x="1538730" y="775351"/>
                  </a:cubicBezTo>
                  <a:lnTo>
                    <a:pt x="37514" y="775351"/>
                  </a:lnTo>
                  <a:cubicBezTo>
                    <a:pt x="27565" y="775351"/>
                    <a:pt x="18023" y="771399"/>
                    <a:pt x="10988" y="764364"/>
                  </a:cubicBezTo>
                  <a:cubicBezTo>
                    <a:pt x="3952" y="757328"/>
                    <a:pt x="0" y="747786"/>
                    <a:pt x="0" y="737837"/>
                  </a:cubicBezTo>
                  <a:lnTo>
                    <a:pt x="0" y="37514"/>
                  </a:lnTo>
                  <a:cubicBezTo>
                    <a:pt x="0" y="27565"/>
                    <a:pt x="3952" y="18023"/>
                    <a:pt x="10988" y="10988"/>
                  </a:cubicBezTo>
                  <a:cubicBezTo>
                    <a:pt x="18023" y="3952"/>
                    <a:pt x="27565" y="0"/>
                    <a:pt x="37514" y="0"/>
                  </a:cubicBezTo>
                  <a:close/>
                </a:path>
              </a:pathLst>
            </a:custGeom>
            <a:solidFill>
              <a:srgbClr val="F8C375"/>
            </a:solidFill>
          </p:spPr>
          <p:txBody>
            <a:bodyPr/>
            <a:lstStyle/>
            <a:p>
              <a:endParaRPr lang="ar-QA" dirty="0"/>
            </a:p>
          </p:txBody>
        </p:sp>
        <p:sp>
          <p:nvSpPr>
            <p:cNvPr id="7" name="TextBox 7"/>
            <p:cNvSpPr txBox="1"/>
            <p:nvPr/>
          </p:nvSpPr>
          <p:spPr>
            <a:xfrm>
              <a:off x="0" y="-38100"/>
              <a:ext cx="1576245" cy="813451"/>
            </a:xfrm>
            <a:prstGeom prst="rect">
              <a:avLst/>
            </a:prstGeom>
          </p:spPr>
          <p:txBody>
            <a:bodyPr lIns="50800" tIns="50800" rIns="50800" bIns="50800" rtlCol="0" anchor="ctr"/>
            <a:lstStyle/>
            <a:p>
              <a:pPr algn="ctr">
                <a:lnSpc>
                  <a:spcPts val="2942"/>
                </a:lnSpc>
              </a:pPr>
              <a:endParaRPr/>
            </a:p>
          </p:txBody>
        </p:sp>
      </p:grpSp>
      <p:sp>
        <p:nvSpPr>
          <p:cNvPr id="8" name="TextBox 8"/>
          <p:cNvSpPr txBox="1"/>
          <p:nvPr/>
        </p:nvSpPr>
        <p:spPr>
          <a:xfrm>
            <a:off x="4005719" y="1776893"/>
            <a:ext cx="9358164" cy="3204616"/>
          </a:xfrm>
          <a:prstGeom prst="rect">
            <a:avLst/>
          </a:prstGeom>
        </p:spPr>
        <p:txBody>
          <a:bodyPr lIns="0" tIns="0" rIns="0" bIns="0" rtlCol="0" anchor="t">
            <a:spAutoFit/>
          </a:bodyPr>
          <a:lstStyle/>
          <a:p>
            <a:pPr algn="ctr">
              <a:lnSpc>
                <a:spcPts val="18142"/>
              </a:lnSpc>
            </a:pPr>
            <a:r>
              <a:rPr lang="en-US" sz="12959" b="1">
                <a:solidFill>
                  <a:srgbClr val="FFFFFF"/>
                </a:solidFill>
                <a:latin typeface="Hinnual Bold"/>
                <a:ea typeface="Hinnual Bold"/>
                <a:cs typeface="Hinnual Bold"/>
                <a:sym typeface="Hinnual Bold"/>
              </a:rPr>
              <a:t>Thank You</a:t>
            </a:r>
          </a:p>
        </p:txBody>
      </p:sp>
      <p:sp>
        <p:nvSpPr>
          <p:cNvPr id="9" name="TextBox 9"/>
          <p:cNvSpPr txBox="1"/>
          <p:nvPr/>
        </p:nvSpPr>
        <p:spPr>
          <a:xfrm>
            <a:off x="9199618" y="7306167"/>
            <a:ext cx="5610474" cy="2208169"/>
          </a:xfrm>
          <a:prstGeom prst="rect">
            <a:avLst/>
          </a:prstGeom>
        </p:spPr>
        <p:txBody>
          <a:bodyPr lIns="0" tIns="0" rIns="0" bIns="0" rtlCol="0" anchor="t">
            <a:spAutoFit/>
          </a:bodyPr>
          <a:lstStyle/>
          <a:p>
            <a:pPr algn="ctr">
              <a:lnSpc>
                <a:spcPts val="3476"/>
              </a:lnSpc>
            </a:pPr>
            <a:r>
              <a:rPr lang="en-US" sz="2483" dirty="0">
                <a:solidFill>
                  <a:srgbClr val="4467BB"/>
                </a:solidFill>
                <a:latin typeface="Inter"/>
                <a:ea typeface="Inter"/>
                <a:cs typeface="Inter"/>
                <a:sym typeface="Inter"/>
              </a:rPr>
              <a:t>If you have any recommendations or issues, please contact us on </a:t>
            </a:r>
            <a:r>
              <a:rPr lang="en-US" sz="2800" b="1" dirty="0">
                <a:solidFill>
                  <a:schemeClr val="tx2">
                    <a:lumMod val="75000"/>
                  </a:schemeClr>
                </a:solidFill>
                <a:latin typeface="Inter Bold"/>
                <a:ea typeface="Inter Bold"/>
                <a:cs typeface="Inter Bold"/>
                <a:sym typeface="Inter Bold"/>
              </a:rPr>
              <a:t>supportprivilegefitness@gmail.com</a:t>
            </a:r>
          </a:p>
          <a:p>
            <a:pPr algn="ctr">
              <a:lnSpc>
                <a:spcPts val="3476"/>
              </a:lnSpc>
            </a:pPr>
            <a:endParaRPr lang="en-US" sz="2483" b="1" i="1" dirty="0">
              <a:solidFill>
                <a:srgbClr val="4467BB"/>
              </a:solidFill>
              <a:latin typeface="Inter Bold Italics"/>
              <a:ea typeface="Inter Bold Italics"/>
              <a:cs typeface="Inter Bold Italics"/>
              <a:sym typeface="Inter Bold Italics"/>
            </a:endParaRPr>
          </a:p>
        </p:txBody>
      </p:sp>
      <p:grpSp>
        <p:nvGrpSpPr>
          <p:cNvPr id="10" name="Group 10"/>
          <p:cNvGrpSpPr/>
          <p:nvPr/>
        </p:nvGrpSpPr>
        <p:grpSpPr>
          <a:xfrm>
            <a:off x="3450988" y="3760234"/>
            <a:ext cx="630931" cy="630931"/>
            <a:chOff x="0" y="0"/>
            <a:chExt cx="673100" cy="673100"/>
          </a:xfrm>
        </p:grpSpPr>
        <p:sp>
          <p:nvSpPr>
            <p:cNvPr id="11" name="Freeform 11"/>
            <p:cNvSpPr/>
            <p:nvPr/>
          </p:nvSpPr>
          <p:spPr>
            <a:xfrm>
              <a:off x="0" y="0"/>
              <a:ext cx="673100" cy="673100"/>
            </a:xfrm>
            <a:custGeom>
              <a:avLst/>
              <a:gdLst/>
              <a:ahLst/>
              <a:cxnLst/>
              <a:rect l="l" t="t" r="r" b="b"/>
              <a:pathLst>
                <a:path w="673100" h="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F8C375"/>
            </a:solidFill>
          </p:spPr>
          <p:txBody>
            <a:bodyPr/>
            <a:lstStyle/>
            <a:p>
              <a:endParaRPr lang="ar-QA"/>
            </a:p>
          </p:txBody>
        </p:sp>
        <p:sp>
          <p:nvSpPr>
            <p:cNvPr id="12" name="TextBox 12"/>
            <p:cNvSpPr txBox="1"/>
            <p:nvPr/>
          </p:nvSpPr>
          <p:spPr>
            <a:xfrm>
              <a:off x="165100" y="127000"/>
              <a:ext cx="342900" cy="381000"/>
            </a:xfrm>
            <a:prstGeom prst="rect">
              <a:avLst/>
            </a:prstGeom>
          </p:spPr>
          <p:txBody>
            <a:bodyPr lIns="50800" tIns="50800" rIns="50800" bIns="50800" rtlCol="0" anchor="ctr"/>
            <a:lstStyle/>
            <a:p>
              <a:pPr algn="ctr">
                <a:lnSpc>
                  <a:spcPts val="2942"/>
                </a:lnSpc>
              </a:pPr>
              <a:endParaRPr/>
            </a:p>
          </p:txBody>
        </p:sp>
      </p:grpSp>
      <p:sp>
        <p:nvSpPr>
          <p:cNvPr id="14" name="TextBox 13">
            <a:extLst>
              <a:ext uri="{FF2B5EF4-FFF2-40B4-BE49-F238E27FC236}">
                <a16:creationId xmlns:a16="http://schemas.microsoft.com/office/drawing/2014/main" id="{B93E4F11-7290-2CDF-4C24-6279BB636F79}"/>
              </a:ext>
            </a:extLst>
          </p:cNvPr>
          <p:cNvSpPr txBox="1"/>
          <p:nvPr/>
        </p:nvSpPr>
        <p:spPr>
          <a:xfrm>
            <a:off x="228600" y="9763105"/>
            <a:ext cx="10135890" cy="400110"/>
          </a:xfrm>
          <a:prstGeom prst="rect">
            <a:avLst/>
          </a:prstGeom>
          <a:noFill/>
        </p:spPr>
        <p:txBody>
          <a:bodyPr wrap="square">
            <a:spAutoFit/>
          </a:bodyPr>
          <a:lstStyle/>
          <a:p>
            <a:r>
              <a:rPr lang="ar-QA" sz="2000" dirty="0"/>
              <a:t>https://ai.studio/apps/13d42522-66a5-4a28-b3d7-461381352df2?fullscreenApplet=true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TotalTime>
  <Words>596</Words>
  <Application>Microsoft Office PowerPoint</Application>
  <PresentationFormat>Custom</PresentationFormat>
  <Paragraphs>56</Paragraphs>
  <Slides>9</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9</vt:i4>
      </vt:variant>
    </vt:vector>
  </HeadingPairs>
  <TitlesOfParts>
    <vt:vector size="21" baseType="lpstr">
      <vt:lpstr>Nourd</vt:lpstr>
      <vt:lpstr>ADLaM Display</vt:lpstr>
      <vt:lpstr>Helvetica World</vt:lpstr>
      <vt:lpstr>Calibri</vt:lpstr>
      <vt:lpstr>Arial</vt:lpstr>
      <vt:lpstr>Inter Bold Italics</vt:lpstr>
      <vt:lpstr>Inter</vt:lpstr>
      <vt:lpstr>Hinnual Bold</vt:lpstr>
      <vt:lpstr>Nourd Bold</vt:lpstr>
      <vt:lpstr>Inter Italics</vt:lpstr>
      <vt:lpstr>Inter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Privilege</dc:title>
  <dc:creator>mohamed hagag</dc:creator>
  <cp:lastModifiedBy>mohamed hagag</cp:lastModifiedBy>
  <cp:revision>9</cp:revision>
  <dcterms:created xsi:type="dcterms:W3CDTF">2006-08-16T00:00:00Z</dcterms:created>
  <dcterms:modified xsi:type="dcterms:W3CDTF">2026-10-28T19:05:14Z</dcterms:modified>
  <dc:identifier>DAHYp44YzJc</dc:identifier>
</cp:coreProperties>
</file>